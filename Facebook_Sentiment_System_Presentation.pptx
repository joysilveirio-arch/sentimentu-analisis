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lvl1pPr>
      <a:defRPr/>
    </a:lvl1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>
      <p:cViewPr varScale="1">
        <p:scale>
          <a:sx n="68" d="100"/>
          <a:sy n="68" d="100"/>
        </p:scale>
        <p:origin x="4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/>
      </a:lvl1pPr>
    </p:titleStyle>
    <p:bodyStyle>
      <a:lvl1pPr>
        <a:defRPr/>
      </a:lvl1pPr>
    </p:bodyStyle>
    <p:otherStyle>
      <a:lvl1pPr>
        <a:defRPr/>
      </a:lvl1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790688" y="310896"/>
            <a:ext cx="4041648" cy="6199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" name="Shape 3"/>
          <p:cNvSpPr/>
          <p:nvPr/>
        </p:nvSpPr>
        <p:spPr>
          <a:xfrm>
            <a:off x="8065008" y="621792"/>
            <a:ext cx="3493008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4" name="Shape 4"/>
          <p:cNvSpPr/>
          <p:nvPr/>
        </p:nvSpPr>
        <p:spPr>
          <a:xfrm>
            <a:off x="685800" y="512064"/>
            <a:ext cx="6766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PROJETU ANALÍTIKA NO SENTIMENTU DADUS FACEBOOK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685800" y="1298448"/>
            <a:ext cx="6720840" cy="16276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3100" b="1" i="0">
                <a:solidFill>
                  <a:srgbClr val="1E293B"/>
                </a:solidFill>
                <a:latin typeface="Aptos"/>
              </a:rPr>
              <a:t>SISTEMA ANALÍTIKU</a:t>
            </a:r>
            <a:endParaRPr lang="en-US" sz="3100"/>
          </a:p>
          <a:p>
            <a:pPr algn="l" marL="0" indent="0">
              <a:buNone/>
            </a:pPr>
            <a:r>
              <a:rPr lang="en-US" sz="3100" b="1" i="0">
                <a:solidFill>
                  <a:srgbClr val="1E293B"/>
                </a:solidFill>
                <a:latin typeface="Aptos"/>
              </a:rPr>
              <a:t>BA KOMENTÁRIU</a:t>
            </a:r>
            <a:endParaRPr lang="en-US" sz="3100"/>
          </a:p>
          <a:p>
            <a:pPr algn="l" marL="0" indent="0">
              <a:buNone/>
            </a:pPr>
            <a:r>
              <a:rPr lang="en-US" sz="3100" b="1" i="0">
                <a:solidFill>
                  <a:srgbClr val="1E293B"/>
                </a:solidFill>
                <a:latin typeface="Aptos"/>
              </a:rPr>
              <a:t>FACEBOOK</a:t>
            </a:r>
            <a:endParaRPr lang="en-US" sz="3100"/>
          </a:p>
        </p:txBody>
      </p:sp>
      <p:sp>
        <p:nvSpPr>
          <p:cNvPr id="6" name="Shape 6"/>
          <p:cNvSpPr/>
          <p:nvPr/>
        </p:nvSpPr>
        <p:spPr>
          <a:xfrm>
            <a:off x="713232" y="3136392"/>
            <a:ext cx="6537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600" b="1" i="0">
                <a:solidFill>
                  <a:srgbClr val="64748B"/>
                </a:solidFill>
                <a:latin typeface="Aptos"/>
              </a:rPr>
              <a:t>Sistema Analítiku ba Komentáriu Facebook</a:t>
            </a:r>
            <a:endParaRPr lang="en-US" sz="1600"/>
          </a:p>
        </p:txBody>
      </p:sp>
      <p:sp>
        <p:nvSpPr>
          <p:cNvPr id="7" name="Shape 7"/>
          <p:cNvSpPr/>
          <p:nvPr/>
        </p:nvSpPr>
        <p:spPr>
          <a:xfrm>
            <a:off x="713232" y="3675888"/>
            <a:ext cx="6309360" cy="6949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200" b="0" i="0">
                <a:solidFill>
                  <a:srgbClr val="64748B"/>
                </a:solidFill>
                <a:latin typeface="Aptos"/>
              </a:rPr>
              <a:t>Analiza sentimentu, preprocessing, labeling, Machine Learning no dashboard interativu.</a:t>
            </a:r>
            <a:endParaRPr lang="en-US" sz="1200"/>
          </a:p>
        </p:txBody>
      </p:sp>
      <p:sp>
        <p:nvSpPr>
          <p:cNvPr id="8" name="Shape 8"/>
          <p:cNvSpPr/>
          <p:nvPr/>
        </p:nvSpPr>
        <p:spPr>
          <a:xfrm>
            <a:off x="713232" y="478231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100" b="1" i="0">
                <a:solidFill>
                  <a:srgbClr val="1E293B"/>
                </a:solidFill>
                <a:latin typeface="Aptos"/>
              </a:rPr>
              <a:t>Apresenta: [NARAN]</a:t>
            </a:r>
            <a:endParaRPr lang="en-US" sz="1100"/>
          </a:p>
        </p:txBody>
      </p:sp>
      <p:sp>
        <p:nvSpPr>
          <p:cNvPr id="9" name="Shape 9"/>
          <p:cNvSpPr/>
          <p:nvPr/>
        </p:nvSpPr>
        <p:spPr>
          <a:xfrm>
            <a:off x="713232" y="51663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2563EB"/>
                </a:solidFill>
                <a:latin typeface="Aptos"/>
              </a:rPr>
              <a:t>DATA SCIENCE</a:t>
            </a:r>
            <a:endParaRPr lang="en-US" sz="900"/>
          </a:p>
        </p:txBody>
      </p:sp>
      <p:sp>
        <p:nvSpPr>
          <p:cNvPr id="10" name="Shape 10"/>
          <p:cNvSpPr/>
          <p:nvPr/>
        </p:nvSpPr>
        <p:spPr>
          <a:xfrm>
            <a:off x="713232" y="5980176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1E293B"/>
                </a:solidFill>
                <a:latin typeface="Aptos"/>
              </a:rPr>
              <a:t>DADUS  →  INSIGHT</a:t>
            </a:r>
            <a:endParaRPr lang="en-US" sz="1200"/>
          </a:p>
        </p:txBody>
      </p:sp>
      <p:sp>
        <p:nvSpPr>
          <p:cNvPr id="11" name="Shape 11"/>
          <p:cNvSpPr/>
          <p:nvPr/>
        </p:nvSpPr>
        <p:spPr>
          <a:xfrm>
            <a:off x="8275320" y="93268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64748B"/>
                </a:solidFill>
                <a:latin typeface="Aptos"/>
              </a:rPr>
              <a:t>SENTIMENTU</a:t>
            </a:r>
            <a:endParaRPr lang="en-US" sz="900"/>
          </a:p>
        </p:txBody>
      </p:sp>
      <p:sp>
        <p:nvSpPr>
          <p:cNvPr id="12" name="Shape 12"/>
          <p:cNvSpPr/>
          <p:nvPr/>
        </p:nvSpPr>
        <p:spPr>
          <a:xfrm>
            <a:off x="8247888" y="1389888"/>
            <a:ext cx="3017520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3" name="Shape 13"/>
          <p:cNvSpPr/>
          <p:nvPr/>
        </p:nvSpPr>
        <p:spPr>
          <a:xfrm>
            <a:off x="8247888" y="1389888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8476488" y="1499616"/>
            <a:ext cx="2468880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700" b="1" i="0">
                <a:solidFill>
                  <a:srgbClr val="1E293B"/>
                </a:solidFill>
                <a:latin typeface="Aptos"/>
              </a:rPr>
              <a:t>Positive</a:t>
            </a:r>
            <a:endParaRPr lang="en-US" sz="1700"/>
          </a:p>
        </p:txBody>
      </p:sp>
      <p:sp>
        <p:nvSpPr>
          <p:cNvPr id="15" name="Shape 15"/>
          <p:cNvSpPr/>
          <p:nvPr/>
        </p:nvSpPr>
        <p:spPr>
          <a:xfrm>
            <a:off x="8485632" y="18288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800" b="1" i="0">
                <a:solidFill>
                  <a:srgbClr val="16A34A"/>
                </a:solidFill>
                <a:latin typeface="Aptos"/>
              </a:rPr>
              <a:t>SINAL POSITIVU</a:t>
            </a:r>
            <a:endParaRPr lang="en-US" sz="800"/>
          </a:p>
        </p:txBody>
      </p:sp>
      <p:sp>
        <p:nvSpPr>
          <p:cNvPr id="16" name="Shape 16"/>
          <p:cNvSpPr/>
          <p:nvPr/>
        </p:nvSpPr>
        <p:spPr>
          <a:xfrm>
            <a:off x="8247888" y="2505456"/>
            <a:ext cx="3017520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8247888" y="2505456"/>
            <a:ext cx="6400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8" name="Shape 18"/>
          <p:cNvSpPr/>
          <p:nvPr/>
        </p:nvSpPr>
        <p:spPr>
          <a:xfrm>
            <a:off x="8476488" y="2615184"/>
            <a:ext cx="2468880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700" b="1" i="0">
                <a:solidFill>
                  <a:srgbClr val="1E293B"/>
                </a:solidFill>
                <a:latin typeface="Aptos"/>
              </a:rPr>
              <a:t>Neutral</a:t>
            </a:r>
            <a:endParaRPr lang="en-US" sz="1700"/>
          </a:p>
        </p:txBody>
      </p:sp>
      <p:sp>
        <p:nvSpPr>
          <p:cNvPr id="19" name="Shape 19"/>
          <p:cNvSpPr/>
          <p:nvPr/>
        </p:nvSpPr>
        <p:spPr>
          <a:xfrm>
            <a:off x="8485632" y="294436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SINAL NEUTRU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8247888" y="3621024"/>
            <a:ext cx="3017520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1" name="Shape 21"/>
          <p:cNvSpPr/>
          <p:nvPr/>
        </p:nvSpPr>
        <p:spPr>
          <a:xfrm>
            <a:off x="8247888" y="3621024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2" name="Shape 22"/>
          <p:cNvSpPr/>
          <p:nvPr/>
        </p:nvSpPr>
        <p:spPr>
          <a:xfrm>
            <a:off x="8476488" y="3730752"/>
            <a:ext cx="2468880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700" b="1" i="0">
                <a:solidFill>
                  <a:srgbClr val="1E293B"/>
                </a:solidFill>
                <a:latin typeface="Aptos"/>
              </a:rPr>
              <a:t>Negative</a:t>
            </a:r>
            <a:endParaRPr lang="en-US" sz="1700"/>
          </a:p>
        </p:txBody>
      </p:sp>
      <p:sp>
        <p:nvSpPr>
          <p:cNvPr id="23" name="Shape 23"/>
          <p:cNvSpPr/>
          <p:nvPr/>
        </p:nvSpPr>
        <p:spPr>
          <a:xfrm>
            <a:off x="8485632" y="4059936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800" b="1" i="0">
                <a:solidFill>
                  <a:srgbClr val="F59E0B"/>
                </a:solidFill>
                <a:latin typeface="Aptos"/>
              </a:rPr>
              <a:t>SINAL NEGATIVU</a:t>
            </a:r>
            <a:endParaRPr lang="en-US" sz="800"/>
          </a:p>
        </p:txBody>
      </p:sp>
      <p:sp>
        <p:nvSpPr>
          <p:cNvPr id="24" name="Shape 24"/>
          <p:cNvSpPr/>
          <p:nvPr/>
        </p:nvSpPr>
        <p:spPr>
          <a:xfrm>
            <a:off x="8247888" y="4992624"/>
            <a:ext cx="3017520" cy="8412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5" name="Shape 25"/>
          <p:cNvSpPr/>
          <p:nvPr/>
        </p:nvSpPr>
        <p:spPr>
          <a:xfrm>
            <a:off x="8449056" y="5129784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DASHBOARD</a:t>
            </a:r>
            <a:endParaRPr lang="en-US" sz="1000"/>
          </a:p>
        </p:txBody>
      </p:sp>
      <p:sp>
        <p:nvSpPr>
          <p:cNvPr id="26" name="Shape 26"/>
          <p:cNvSpPr/>
          <p:nvPr/>
        </p:nvSpPr>
        <p:spPr>
          <a:xfrm>
            <a:off x="8449056" y="5431536"/>
            <a:ext cx="25603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1E293B"/>
                </a:solidFill>
                <a:latin typeface="Aptos"/>
              </a:rPr>
              <a:t>INTERATIVU  ·  FACEBOOK</a:t>
            </a:r>
            <a:endParaRPr lang="en-US" sz="900"/>
          </a:p>
        </p:txBody>
      </p:sp>
      <p:sp>
        <p:nvSpPr>
          <p:cNvPr id="27" name="Shape 27"/>
          <p:cNvSpPr/>
          <p:nvPr/>
        </p:nvSpPr>
        <p:spPr>
          <a:xfrm>
            <a:off x="685800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28" name="Shape 28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01</a:t>
            </a:r>
            <a:endParaRPr lang="en-US" sz="800"/>
          </a:p>
        </p:txBody>
      </p:sp>
    </p:spTree>
    <p:clrMapOvr>
      <a:masterClrMapping/>
    </p:clrMapOvr>
  </p:cSld>
</p:sld>
</file>

<file path=ppt/slides/slide2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85216" y="237744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01 · KONTEKSTU</a:t>
            </a:r>
            <a:endParaRPr lang="en-US" sz="1000"/>
          </a:p>
        </p:txBody>
      </p:sp>
      <p:sp>
        <p:nvSpPr>
          <p:cNvPr id="3" name="Shape 3"/>
          <p:cNvSpPr/>
          <p:nvPr/>
        </p:nvSpPr>
        <p:spPr>
          <a:xfrm>
            <a:off x="585216" y="576072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293B"/>
                </a:solidFill>
                <a:latin typeface="Aptos"/>
              </a:rPr>
              <a:t>Kontekstu: komentáriu Facebook barak, informasaun barak</a:t>
            </a:r>
            <a:endParaRPr lang="en-US" sz="2600"/>
          </a:p>
        </p:txBody>
      </p:sp>
      <p:sp>
        <p:nvSpPr>
          <p:cNvPr id="4" name="Shape 4"/>
          <p:cNvSpPr/>
          <p:nvPr/>
        </p:nvSpPr>
        <p:spPr>
          <a:xfrm>
            <a:off x="585216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5" name="Shape 5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02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658368" y="1554480"/>
            <a:ext cx="352958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676656" y="1664208"/>
            <a:ext cx="41148" cy="2020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841248" y="1682496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Komentáriu mak sinal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841248" y="2121408"/>
            <a:ext cx="3163824" cy="15636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200" b="0" i="0">
                <a:solidFill>
                  <a:srgbClr val="64748B"/>
                </a:solidFill>
                <a:latin typeface="Aptos"/>
              </a:rPr>
              <a:t>Komentáriu hatudu opiniaun, pergunta no reasaun utilizadór liuhosi testu, likes no comments.</a:t>
            </a:r>
            <a:endParaRPr lang="en-US" sz="1200"/>
          </a:p>
        </p:txBody>
      </p:sp>
      <p:sp>
        <p:nvSpPr>
          <p:cNvPr id="10" name="Shape 10"/>
          <p:cNvSpPr/>
          <p:nvPr/>
        </p:nvSpPr>
        <p:spPr>
          <a:xfrm>
            <a:off x="4334256" y="1554480"/>
            <a:ext cx="352958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352544" y="1664208"/>
            <a:ext cx="41148" cy="2020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4517136" y="1682496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Dadus difisil atu haree</a:t>
            </a:r>
            <a:endParaRPr lang="en-US" sz="1500"/>
          </a:p>
        </p:txBody>
      </p:sp>
      <p:sp>
        <p:nvSpPr>
          <p:cNvPr id="13" name="Shape 13"/>
          <p:cNvSpPr/>
          <p:nvPr/>
        </p:nvSpPr>
        <p:spPr>
          <a:xfrm>
            <a:off x="4517136" y="2121408"/>
            <a:ext cx="3163824" cy="15636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200" b="0" i="0">
                <a:solidFill>
                  <a:srgbClr val="64748B"/>
                </a:solidFill>
                <a:latin typeface="Aptos"/>
              </a:rPr>
              <a:t>Bainhira komentáriu barak, leitura manual susar atu kompara sentimentu, tempu no engagement.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8010144" y="1554480"/>
            <a:ext cx="352958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8028432" y="1664208"/>
            <a:ext cx="41148" cy="20208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6" name="Shape 16"/>
          <p:cNvSpPr/>
          <p:nvPr/>
        </p:nvSpPr>
        <p:spPr>
          <a:xfrm>
            <a:off x="8193024" y="1682496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Visual ajuda komprende</a:t>
            </a:r>
            <a:endParaRPr lang="en-US" sz="1500"/>
          </a:p>
        </p:txBody>
      </p:sp>
      <p:sp>
        <p:nvSpPr>
          <p:cNvPr id="17" name="Shape 17"/>
          <p:cNvSpPr/>
          <p:nvPr/>
        </p:nvSpPr>
        <p:spPr>
          <a:xfrm>
            <a:off x="8193024" y="2121408"/>
            <a:ext cx="3163824" cy="15636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200" b="0" i="0">
                <a:solidFill>
                  <a:srgbClr val="64748B"/>
                </a:solidFill>
                <a:latin typeface="Aptos"/>
              </a:rPr>
              <a:t>Dashboard transforma tabela ba gráfiku, filtrajen no insight ne’ebé fasil atu lee.</a:t>
            </a:r>
            <a:endParaRPr lang="en-US" sz="1200"/>
          </a:p>
        </p:txBody>
      </p:sp>
      <p:sp>
        <p:nvSpPr>
          <p:cNvPr id="18" name="Shape 18"/>
          <p:cNvSpPr/>
          <p:nvPr/>
        </p:nvSpPr>
        <p:spPr>
          <a:xfrm>
            <a:off x="658368" y="4160520"/>
            <a:ext cx="10881360" cy="1417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914400" y="436168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2563EB"/>
                </a:solidFill>
                <a:latin typeface="Aptos"/>
              </a:rPr>
              <a:t>KONTEKSTU DADUS ATUAL</a:t>
            </a:r>
            <a:endParaRPr lang="en-US" sz="900"/>
          </a:p>
        </p:txBody>
      </p:sp>
      <p:sp>
        <p:nvSpPr>
          <p:cNvPr id="20" name="Shape 20"/>
          <p:cNvSpPr/>
          <p:nvPr/>
        </p:nvSpPr>
        <p:spPr>
          <a:xfrm>
            <a:off x="914400" y="468172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800" b="1" i="0">
                <a:solidFill>
                  <a:srgbClr val="1E293B"/>
                </a:solidFill>
                <a:latin typeface="Aptos"/>
              </a:rPr>
              <a:t>1,679</a:t>
            </a:r>
            <a:endParaRPr lang="en-US" sz="2800"/>
          </a:p>
        </p:txBody>
      </p:sp>
      <p:sp>
        <p:nvSpPr>
          <p:cNvPr id="21" name="Shape 21"/>
          <p:cNvSpPr/>
          <p:nvPr/>
        </p:nvSpPr>
        <p:spPr>
          <a:xfrm>
            <a:off x="2743200" y="4736592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0" i="0">
                <a:solidFill>
                  <a:srgbClr val="64748B"/>
                </a:solidFill>
                <a:latin typeface="Aptos"/>
              </a:rPr>
              <a:t>Facebook records iha database</a:t>
            </a:r>
            <a:endParaRPr lang="en-US" sz="1200"/>
          </a:p>
        </p:txBody>
      </p:sp>
      <p:sp>
        <p:nvSpPr>
          <p:cNvPr id="22" name="Shape 22"/>
          <p:cNvSpPr/>
          <p:nvPr/>
        </p:nvSpPr>
        <p:spPr>
          <a:xfrm>
            <a:off x="7680960" y="47548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1100" b="1" i="0">
                <a:solidFill>
                  <a:srgbClr val="1E293B"/>
                </a:solidFill>
                <a:latin typeface="Aptos"/>
              </a:rPr>
              <a:t>Komentáriu  →  sentimentu  →  insight</a:t>
            </a:r>
            <a:endParaRPr lang="en-US" sz="1100"/>
          </a:p>
        </p:txBody>
      </p:sp>
    </p:spTree>
    <p:clrMapOvr>
      <a:masterClrMapping/>
    </p:clrMapOvr>
  </p:cSld>
</p:sld>
</file>

<file path=ppt/slides/slide3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85216" y="237744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02 · PROBLEMA</a:t>
            </a:r>
            <a:endParaRPr lang="en-US" sz="1000"/>
          </a:p>
        </p:txBody>
      </p:sp>
      <p:sp>
        <p:nvSpPr>
          <p:cNvPr id="3" name="Shape 3"/>
          <p:cNvSpPr/>
          <p:nvPr/>
        </p:nvSpPr>
        <p:spPr>
          <a:xfrm>
            <a:off x="585216" y="576072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293B"/>
                </a:solidFill>
                <a:latin typeface="Aptos"/>
              </a:rPr>
              <a:t>Problema ne’ebé sistema hakarak responde</a:t>
            </a:r>
            <a:endParaRPr lang="en-US" sz="2600"/>
          </a:p>
        </p:txBody>
      </p:sp>
      <p:sp>
        <p:nvSpPr>
          <p:cNvPr id="4" name="Shape 4"/>
          <p:cNvSpPr/>
          <p:nvPr/>
        </p:nvSpPr>
        <p:spPr>
          <a:xfrm>
            <a:off x="585216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5" name="Shape 5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03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658368" y="1508760"/>
            <a:ext cx="34930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676656" y="1618488"/>
            <a:ext cx="41148" cy="14264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841248" y="1645920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2563EB"/>
                </a:solidFill>
                <a:latin typeface="Aptos"/>
              </a:rPr>
              <a:t>01</a:t>
            </a:r>
            <a:endParaRPr lang="en-US" sz="1200"/>
          </a:p>
        </p:txBody>
      </p:sp>
      <p:sp>
        <p:nvSpPr>
          <p:cNvPr id="9" name="Shape 9"/>
          <p:cNvSpPr/>
          <p:nvPr/>
        </p:nvSpPr>
        <p:spPr>
          <a:xfrm>
            <a:off x="1316736" y="1636776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Dadus raw presiza limpeza.</a:t>
            </a:r>
            <a:endParaRPr lang="en-US" sz="1500"/>
          </a:p>
        </p:txBody>
      </p:sp>
      <p:sp>
        <p:nvSpPr>
          <p:cNvPr id="10" name="Shape 10"/>
          <p:cNvSpPr/>
          <p:nvPr/>
        </p:nvSpPr>
        <p:spPr>
          <a:xfrm>
            <a:off x="841248" y="2075688"/>
            <a:ext cx="3127248" cy="9692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URL, mention, emoji no HTML bele aumenta noise.</a:t>
            </a:r>
            <a:endParaRPr lang="en-US" sz="1100"/>
          </a:p>
        </p:txBody>
      </p:sp>
      <p:sp>
        <p:nvSpPr>
          <p:cNvPr id="11" name="Shape 11"/>
          <p:cNvSpPr/>
          <p:nvPr/>
        </p:nvSpPr>
        <p:spPr>
          <a:xfrm>
            <a:off x="4334256" y="1508760"/>
            <a:ext cx="34930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4352544" y="1618488"/>
            <a:ext cx="41148" cy="14264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3" name="Shape 13"/>
          <p:cNvSpPr/>
          <p:nvPr/>
        </p:nvSpPr>
        <p:spPr>
          <a:xfrm>
            <a:off x="4517136" y="1645920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F59E0B"/>
                </a:solidFill>
                <a:latin typeface="Aptos"/>
              </a:rPr>
              <a:t>02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4992624" y="1636776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Label presiza jestaun.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4517136" y="2075688"/>
            <a:ext cx="3127248" cy="9692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Sentimentu tenke fahe ba Positive, Neutral no Negative.</a:t>
            </a:r>
            <a:endParaRPr lang="en-US" sz="1100"/>
          </a:p>
        </p:txBody>
      </p:sp>
      <p:sp>
        <p:nvSpPr>
          <p:cNvPr id="16" name="Shape 16"/>
          <p:cNvSpPr/>
          <p:nvPr/>
        </p:nvSpPr>
        <p:spPr>
          <a:xfrm>
            <a:off x="8010144" y="1508760"/>
            <a:ext cx="34930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8028432" y="1618488"/>
            <a:ext cx="41148" cy="14264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8" name="Shape 18"/>
          <p:cNvSpPr/>
          <p:nvPr/>
        </p:nvSpPr>
        <p:spPr>
          <a:xfrm>
            <a:off x="8193024" y="1645920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16A34A"/>
                </a:solidFill>
                <a:latin typeface="Aptos"/>
              </a:rPr>
              <a:t>03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8668512" y="1636776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Leitura manual la eficiente.</a:t>
            </a:r>
            <a:endParaRPr lang="en-US" sz="1500"/>
          </a:p>
        </p:txBody>
      </p:sp>
      <p:sp>
        <p:nvSpPr>
          <p:cNvPr id="20" name="Shape 20"/>
          <p:cNvSpPr/>
          <p:nvPr/>
        </p:nvSpPr>
        <p:spPr>
          <a:xfrm>
            <a:off x="8193024" y="2075688"/>
            <a:ext cx="3127248" cy="9692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Komentáriu barak difisil atu kompara ho lalais.</a:t>
            </a:r>
            <a:endParaRPr lang="en-US" sz="1100"/>
          </a:p>
        </p:txBody>
      </p:sp>
      <p:sp>
        <p:nvSpPr>
          <p:cNvPr id="21" name="Shape 21"/>
          <p:cNvSpPr/>
          <p:nvPr/>
        </p:nvSpPr>
        <p:spPr>
          <a:xfrm>
            <a:off x="658368" y="3474720"/>
            <a:ext cx="34930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2" name="Shape 22"/>
          <p:cNvSpPr/>
          <p:nvPr/>
        </p:nvSpPr>
        <p:spPr>
          <a:xfrm>
            <a:off x="676656" y="3584448"/>
            <a:ext cx="41148" cy="1426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3" name="Shape 23"/>
          <p:cNvSpPr/>
          <p:nvPr/>
        </p:nvSpPr>
        <p:spPr>
          <a:xfrm>
            <a:off x="841248" y="3611880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1E3A5F"/>
                </a:solidFill>
                <a:latin typeface="Aptos"/>
              </a:rPr>
              <a:t>04</a:t>
            </a:r>
            <a:endParaRPr lang="en-US" sz="1200"/>
          </a:p>
        </p:txBody>
      </p:sp>
      <p:sp>
        <p:nvSpPr>
          <p:cNvPr id="24" name="Shape 24"/>
          <p:cNvSpPr/>
          <p:nvPr/>
        </p:nvSpPr>
        <p:spPr>
          <a:xfrm>
            <a:off x="1316736" y="3602736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Predisaun presiza model.</a:t>
            </a:r>
            <a:endParaRPr lang="en-US" sz="1500"/>
          </a:p>
        </p:txBody>
      </p:sp>
      <p:sp>
        <p:nvSpPr>
          <p:cNvPr id="25" name="Shape 25"/>
          <p:cNvSpPr/>
          <p:nvPr/>
        </p:nvSpPr>
        <p:spPr>
          <a:xfrm>
            <a:off x="841248" y="4041648"/>
            <a:ext cx="3127248" cy="9692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Dadus label uza atu treina Decision Tree.</a:t>
            </a:r>
            <a:endParaRPr lang="en-US" sz="1100"/>
          </a:p>
        </p:txBody>
      </p:sp>
      <p:sp>
        <p:nvSpPr>
          <p:cNvPr id="26" name="Shape 26"/>
          <p:cNvSpPr/>
          <p:nvPr/>
        </p:nvSpPr>
        <p:spPr>
          <a:xfrm>
            <a:off x="4334256" y="3474720"/>
            <a:ext cx="34930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4352544" y="3584448"/>
            <a:ext cx="41148" cy="14264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8" name="Shape 28"/>
          <p:cNvSpPr/>
          <p:nvPr/>
        </p:nvSpPr>
        <p:spPr>
          <a:xfrm>
            <a:off x="4517136" y="3611880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2563EB"/>
                </a:solidFill>
                <a:latin typeface="Aptos"/>
              </a:rPr>
              <a:t>05</a:t>
            </a:r>
            <a:endParaRPr lang="en-US" sz="1200"/>
          </a:p>
        </p:txBody>
      </p:sp>
      <p:sp>
        <p:nvSpPr>
          <p:cNvPr id="29" name="Shape 29"/>
          <p:cNvSpPr/>
          <p:nvPr/>
        </p:nvSpPr>
        <p:spPr>
          <a:xfrm>
            <a:off x="4992624" y="3602736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Dadus presiza vizualizasaun.</a:t>
            </a:r>
            <a:endParaRPr lang="en-US" sz="1500"/>
          </a:p>
        </p:txBody>
      </p:sp>
      <p:sp>
        <p:nvSpPr>
          <p:cNvPr id="30" name="Shape 30"/>
          <p:cNvSpPr/>
          <p:nvPr/>
        </p:nvSpPr>
        <p:spPr>
          <a:xfrm>
            <a:off x="4517136" y="4041648"/>
            <a:ext cx="3127248" cy="9692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Dashboard ajuda haree distribuisaun no padraun.</a:t>
            </a:r>
            <a:endParaRPr lang="en-US" sz="1100"/>
          </a:p>
        </p:txBody>
      </p:sp>
      <p:sp>
        <p:nvSpPr>
          <p:cNvPr id="31" name="Shape 31"/>
          <p:cNvSpPr/>
          <p:nvPr/>
        </p:nvSpPr>
        <p:spPr>
          <a:xfrm>
            <a:off x="8010144" y="3474720"/>
            <a:ext cx="34930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2" name="Shape 32"/>
          <p:cNvSpPr/>
          <p:nvPr/>
        </p:nvSpPr>
        <p:spPr>
          <a:xfrm>
            <a:off x="8028432" y="3584448"/>
            <a:ext cx="41148" cy="14264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3" name="Shape 33"/>
          <p:cNvSpPr/>
          <p:nvPr/>
        </p:nvSpPr>
        <p:spPr>
          <a:xfrm>
            <a:off x="8193024" y="3611880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F59E0B"/>
                </a:solidFill>
                <a:latin typeface="Aptos"/>
              </a:rPr>
              <a:t>06</a:t>
            </a:r>
            <a:endParaRPr lang="en-US" sz="1200"/>
          </a:p>
        </p:txBody>
      </p:sp>
      <p:sp>
        <p:nvSpPr>
          <p:cNvPr id="34" name="Shape 34"/>
          <p:cNvSpPr/>
          <p:nvPr/>
        </p:nvSpPr>
        <p:spPr>
          <a:xfrm>
            <a:off x="8668512" y="3602736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Kualidade presiza verifikasaun.</a:t>
            </a:r>
            <a:endParaRPr lang="en-US" sz="1500"/>
          </a:p>
        </p:txBody>
      </p:sp>
      <p:sp>
        <p:nvSpPr>
          <p:cNvPr id="35" name="Shape 35"/>
          <p:cNvSpPr/>
          <p:nvPr/>
        </p:nvSpPr>
        <p:spPr>
          <a:xfrm>
            <a:off x="8193024" y="4041648"/>
            <a:ext cx="3127248" cy="9692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Evaluation presiza test set ho klase sufisiente.</a:t>
            </a:r>
            <a:endParaRPr lang="en-US" sz="1100"/>
          </a:p>
        </p:txBody>
      </p:sp>
      <p:sp>
        <p:nvSpPr>
          <p:cNvPr id="36" name="Shape 36"/>
          <p:cNvSpPr/>
          <p:nvPr/>
        </p:nvSpPr>
        <p:spPr>
          <a:xfrm>
            <a:off x="658368" y="5596128"/>
            <a:ext cx="10881360" cy="49377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7" name="Shape 37"/>
          <p:cNvSpPr/>
          <p:nvPr/>
        </p:nvSpPr>
        <p:spPr>
          <a:xfrm>
            <a:off x="896112" y="5687568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100" b="1" i="0">
                <a:solidFill>
                  <a:srgbClr val="2563EB"/>
                </a:solidFill>
                <a:latin typeface="Aptos"/>
              </a:rPr>
              <a:t>REZULTADU HAKARAK: insight ne’ebé klaru husi komentáriu barak.</a:t>
            </a:r>
            <a:endParaRPr lang="en-US" sz="1100"/>
          </a:p>
        </p:txBody>
      </p:sp>
    </p:spTree>
    <p:clrMapOvr>
      <a:masterClrMapping/>
    </p:clrMapOvr>
  </p:cSld>
</p:sld>
</file>

<file path=ppt/slides/slide4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85216" y="237744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03 · OBJETIVU</a:t>
            </a:r>
            <a:endParaRPr lang="en-US" sz="1000"/>
          </a:p>
        </p:txBody>
      </p:sp>
      <p:sp>
        <p:nvSpPr>
          <p:cNvPr id="3" name="Shape 3"/>
          <p:cNvSpPr/>
          <p:nvPr/>
        </p:nvSpPr>
        <p:spPr>
          <a:xfrm>
            <a:off x="585216" y="576072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293B"/>
                </a:solidFill>
                <a:latin typeface="Aptos"/>
              </a:rPr>
              <a:t>Objetivu projetu</a:t>
            </a:r>
            <a:endParaRPr lang="en-US" sz="2600"/>
          </a:p>
        </p:txBody>
      </p:sp>
      <p:sp>
        <p:nvSpPr>
          <p:cNvPr id="4" name="Shape 4"/>
          <p:cNvSpPr/>
          <p:nvPr/>
        </p:nvSpPr>
        <p:spPr>
          <a:xfrm>
            <a:off x="585216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5" name="Shape 5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04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658368" y="1444752"/>
            <a:ext cx="349300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676656" y="1554480"/>
            <a:ext cx="41148" cy="1335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841248" y="1581912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2563EB"/>
                </a:solidFill>
                <a:latin typeface="Aptos"/>
              </a:rPr>
              <a:t>01</a:t>
            </a:r>
            <a:endParaRPr lang="en-US" sz="1200"/>
          </a:p>
        </p:txBody>
      </p:sp>
      <p:sp>
        <p:nvSpPr>
          <p:cNvPr id="9" name="Shape 9"/>
          <p:cNvSpPr/>
          <p:nvPr/>
        </p:nvSpPr>
        <p:spPr>
          <a:xfrm>
            <a:off x="1316736" y="1572768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Analiza</a:t>
            </a:r>
            <a:endParaRPr lang="en-US" sz="1500"/>
          </a:p>
        </p:txBody>
      </p:sp>
      <p:sp>
        <p:nvSpPr>
          <p:cNvPr id="10" name="Shape 10"/>
          <p:cNvSpPr/>
          <p:nvPr/>
        </p:nvSpPr>
        <p:spPr>
          <a:xfrm>
            <a:off x="841248" y="2011680"/>
            <a:ext cx="3127248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Klasifika sentimentu: Positive, Neutral no Negative.</a:t>
            </a:r>
            <a:endParaRPr lang="en-US" sz="1100"/>
          </a:p>
        </p:txBody>
      </p:sp>
      <p:sp>
        <p:nvSpPr>
          <p:cNvPr id="11" name="Shape 11"/>
          <p:cNvSpPr/>
          <p:nvPr/>
        </p:nvSpPr>
        <p:spPr>
          <a:xfrm>
            <a:off x="4334256" y="1444752"/>
            <a:ext cx="349300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4352544" y="1554480"/>
            <a:ext cx="41148" cy="13350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3" name="Shape 13"/>
          <p:cNvSpPr/>
          <p:nvPr/>
        </p:nvSpPr>
        <p:spPr>
          <a:xfrm>
            <a:off x="4517136" y="1581912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F59E0B"/>
                </a:solidFill>
                <a:latin typeface="Aptos"/>
              </a:rPr>
              <a:t>02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4992624" y="1572768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Preprocess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4517136" y="2011680"/>
            <a:ext cx="3127248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Limpa emoji, URL, mention, HTML no whitespace.</a:t>
            </a:r>
            <a:endParaRPr lang="en-US" sz="1100"/>
          </a:p>
        </p:txBody>
      </p:sp>
      <p:sp>
        <p:nvSpPr>
          <p:cNvPr id="16" name="Shape 16"/>
          <p:cNvSpPr/>
          <p:nvPr/>
        </p:nvSpPr>
        <p:spPr>
          <a:xfrm>
            <a:off x="8010144" y="1444752"/>
            <a:ext cx="349300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8028432" y="1554480"/>
            <a:ext cx="41148" cy="13350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8" name="Shape 18"/>
          <p:cNvSpPr/>
          <p:nvPr/>
        </p:nvSpPr>
        <p:spPr>
          <a:xfrm>
            <a:off x="8193024" y="1581912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16A34A"/>
                </a:solidFill>
                <a:latin typeface="Aptos"/>
              </a:rPr>
              <a:t>03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8668512" y="1572768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Label</a:t>
            </a:r>
            <a:endParaRPr lang="en-US" sz="1500"/>
          </a:p>
        </p:txBody>
      </p:sp>
      <p:sp>
        <p:nvSpPr>
          <p:cNvPr id="20" name="Shape 20"/>
          <p:cNvSpPr/>
          <p:nvPr/>
        </p:nvSpPr>
        <p:spPr>
          <a:xfrm>
            <a:off x="8193024" y="2011680"/>
            <a:ext cx="3127248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Atribui label sentimentu ba komentáriu.</a:t>
            </a:r>
            <a:endParaRPr lang="en-US" sz="1100"/>
          </a:p>
        </p:txBody>
      </p:sp>
      <p:sp>
        <p:nvSpPr>
          <p:cNvPr id="21" name="Shape 21"/>
          <p:cNvSpPr/>
          <p:nvPr/>
        </p:nvSpPr>
        <p:spPr>
          <a:xfrm>
            <a:off x="658368" y="3300984"/>
            <a:ext cx="349300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2" name="Shape 22"/>
          <p:cNvSpPr/>
          <p:nvPr/>
        </p:nvSpPr>
        <p:spPr>
          <a:xfrm>
            <a:off x="676656" y="3410712"/>
            <a:ext cx="41148" cy="13350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3" name="Shape 23"/>
          <p:cNvSpPr/>
          <p:nvPr/>
        </p:nvSpPr>
        <p:spPr>
          <a:xfrm>
            <a:off x="841248" y="3438144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1E3A5F"/>
                </a:solidFill>
                <a:latin typeface="Aptos"/>
              </a:rPr>
              <a:t>04</a:t>
            </a:r>
            <a:endParaRPr lang="en-US" sz="1200"/>
          </a:p>
        </p:txBody>
      </p:sp>
      <p:sp>
        <p:nvSpPr>
          <p:cNvPr id="24" name="Shape 24"/>
          <p:cNvSpPr/>
          <p:nvPr/>
        </p:nvSpPr>
        <p:spPr>
          <a:xfrm>
            <a:off x="1316736" y="3429000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Train</a:t>
            </a:r>
            <a:endParaRPr lang="en-US" sz="1500"/>
          </a:p>
        </p:txBody>
      </p:sp>
      <p:sp>
        <p:nvSpPr>
          <p:cNvPr id="25" name="Shape 25"/>
          <p:cNvSpPr/>
          <p:nvPr/>
        </p:nvSpPr>
        <p:spPr>
          <a:xfrm>
            <a:off x="841248" y="3867912"/>
            <a:ext cx="3127248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Treina no avalia model Decision Tree.</a:t>
            </a:r>
            <a:endParaRPr lang="en-US" sz="1100"/>
          </a:p>
        </p:txBody>
      </p:sp>
      <p:sp>
        <p:nvSpPr>
          <p:cNvPr id="26" name="Shape 26"/>
          <p:cNvSpPr/>
          <p:nvPr/>
        </p:nvSpPr>
        <p:spPr>
          <a:xfrm>
            <a:off x="4334256" y="3300984"/>
            <a:ext cx="349300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4352544" y="3410712"/>
            <a:ext cx="41148" cy="1335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8" name="Shape 28"/>
          <p:cNvSpPr/>
          <p:nvPr/>
        </p:nvSpPr>
        <p:spPr>
          <a:xfrm>
            <a:off x="4517136" y="3438144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2563EB"/>
                </a:solidFill>
                <a:latin typeface="Aptos"/>
              </a:rPr>
              <a:t>05</a:t>
            </a:r>
            <a:endParaRPr lang="en-US" sz="1200"/>
          </a:p>
        </p:txBody>
      </p:sp>
      <p:sp>
        <p:nvSpPr>
          <p:cNvPr id="29" name="Shape 29"/>
          <p:cNvSpPr/>
          <p:nvPr/>
        </p:nvSpPr>
        <p:spPr>
          <a:xfrm>
            <a:off x="4992624" y="3429000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Visualiza</a:t>
            </a:r>
            <a:endParaRPr lang="en-US" sz="1500"/>
          </a:p>
        </p:txBody>
      </p:sp>
      <p:sp>
        <p:nvSpPr>
          <p:cNvPr id="30" name="Shape 30"/>
          <p:cNvSpPr/>
          <p:nvPr/>
        </p:nvSpPr>
        <p:spPr>
          <a:xfrm>
            <a:off x="4517136" y="3867912"/>
            <a:ext cx="3127248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Hatudu rezultadu iha dashboard interativu.</a:t>
            </a:r>
            <a:endParaRPr lang="en-US" sz="1100"/>
          </a:p>
        </p:txBody>
      </p:sp>
      <p:sp>
        <p:nvSpPr>
          <p:cNvPr id="31" name="Shape 31"/>
          <p:cNvSpPr/>
          <p:nvPr/>
        </p:nvSpPr>
        <p:spPr>
          <a:xfrm>
            <a:off x="8010144" y="3300984"/>
            <a:ext cx="349300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2" name="Shape 32"/>
          <p:cNvSpPr/>
          <p:nvPr/>
        </p:nvSpPr>
        <p:spPr>
          <a:xfrm>
            <a:off x="8028432" y="3410712"/>
            <a:ext cx="41148" cy="13350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3" name="Shape 33"/>
          <p:cNvSpPr/>
          <p:nvPr/>
        </p:nvSpPr>
        <p:spPr>
          <a:xfrm>
            <a:off x="8193024" y="3438144"/>
            <a:ext cx="4206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F59E0B"/>
                </a:solidFill>
                <a:latin typeface="Aptos"/>
              </a:rPr>
              <a:t>06</a:t>
            </a:r>
            <a:endParaRPr lang="en-US" sz="1200"/>
          </a:p>
        </p:txBody>
      </p:sp>
      <p:sp>
        <p:nvSpPr>
          <p:cNvPr id="34" name="Shape 34"/>
          <p:cNvSpPr/>
          <p:nvPr/>
        </p:nvSpPr>
        <p:spPr>
          <a:xfrm>
            <a:off x="8668512" y="3429000"/>
            <a:ext cx="262432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Jere dadus</a:t>
            </a:r>
            <a:endParaRPr lang="en-US" sz="1500"/>
          </a:p>
        </p:txBody>
      </p:sp>
      <p:sp>
        <p:nvSpPr>
          <p:cNvPr id="35" name="Shape 35"/>
          <p:cNvSpPr/>
          <p:nvPr/>
        </p:nvSpPr>
        <p:spPr>
          <a:xfrm>
            <a:off x="8193024" y="3867912"/>
            <a:ext cx="3127248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Import dataset, jere wordlist no utilizadór.</a:t>
            </a:r>
            <a:endParaRPr lang="en-US" sz="1100"/>
          </a:p>
        </p:txBody>
      </p:sp>
      <p:sp>
        <p:nvSpPr>
          <p:cNvPr id="36" name="Shape 36"/>
          <p:cNvSpPr/>
          <p:nvPr/>
        </p:nvSpPr>
        <p:spPr>
          <a:xfrm>
            <a:off x="658368" y="5349240"/>
            <a:ext cx="10881360" cy="640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7" name="Shape 37"/>
          <p:cNvSpPr/>
          <p:nvPr/>
        </p:nvSpPr>
        <p:spPr>
          <a:xfrm>
            <a:off x="932688" y="5513832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2563EB"/>
                </a:solidFill>
                <a:latin typeface="Aptos"/>
              </a:rPr>
              <a:t>OBJETIVU</a:t>
            </a:r>
            <a:endParaRPr lang="en-US" sz="900"/>
          </a:p>
        </p:txBody>
      </p:sp>
      <p:sp>
        <p:nvSpPr>
          <p:cNvPr id="38" name="Shape 38"/>
          <p:cNvSpPr/>
          <p:nvPr/>
        </p:nvSpPr>
        <p:spPr>
          <a:xfrm>
            <a:off x="2148840" y="548640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Dadus  →  model  →  insight ne’ebé klaru</a:t>
            </a:r>
            <a:endParaRPr lang="en-US" sz="1500"/>
          </a:p>
        </p:txBody>
      </p:sp>
    </p:spTree>
    <p:clrMapOvr>
      <a:masterClrMapping/>
    </p:clrMapOvr>
  </p:cSld>
</p:sld>
</file>

<file path=ppt/slides/slide5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85216" y="237744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04 · DADUS</a:t>
            </a:r>
            <a:endParaRPr lang="en-US" sz="1000"/>
          </a:p>
        </p:txBody>
      </p:sp>
      <p:sp>
        <p:nvSpPr>
          <p:cNvPr id="3" name="Shape 3"/>
          <p:cNvSpPr/>
          <p:nvPr/>
        </p:nvSpPr>
        <p:spPr>
          <a:xfrm>
            <a:off x="585216" y="576072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293B"/>
                </a:solidFill>
                <a:latin typeface="Aptos"/>
              </a:rPr>
              <a:t>Dadus no variável importante</a:t>
            </a:r>
            <a:endParaRPr lang="en-US" sz="2600"/>
          </a:p>
        </p:txBody>
      </p:sp>
      <p:sp>
        <p:nvSpPr>
          <p:cNvPr id="4" name="Shape 4"/>
          <p:cNvSpPr/>
          <p:nvPr/>
        </p:nvSpPr>
        <p:spPr>
          <a:xfrm>
            <a:off x="585216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5" name="Shape 5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05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658368" y="141732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822960" y="1554480"/>
            <a:ext cx="214884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2563EB"/>
                </a:solidFill>
                <a:latin typeface="Aptos"/>
              </a:rPr>
              <a:t>1,679</a:t>
            </a:r>
            <a:endParaRPr lang="en-US" sz="2600"/>
          </a:p>
        </p:txBody>
      </p:sp>
      <p:sp>
        <p:nvSpPr>
          <p:cNvPr id="8" name="Shape 8"/>
          <p:cNvSpPr/>
          <p:nvPr/>
        </p:nvSpPr>
        <p:spPr>
          <a:xfrm>
            <a:off x="841248" y="204825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64748B"/>
                </a:solidFill>
                <a:latin typeface="Aptos"/>
              </a:rPr>
              <a:t>Total records</a:t>
            </a:r>
            <a:endParaRPr lang="en-US" sz="1000"/>
          </a:p>
        </p:txBody>
      </p:sp>
      <p:sp>
        <p:nvSpPr>
          <p:cNvPr id="9" name="Shape 9"/>
          <p:cNvSpPr/>
          <p:nvPr/>
        </p:nvSpPr>
        <p:spPr>
          <a:xfrm>
            <a:off x="3447288" y="141732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0" name="Shape 10"/>
          <p:cNvSpPr/>
          <p:nvPr/>
        </p:nvSpPr>
        <p:spPr>
          <a:xfrm>
            <a:off x="3611880" y="1554480"/>
            <a:ext cx="214884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6A34A"/>
                </a:solidFill>
                <a:latin typeface="Aptos"/>
              </a:rPr>
              <a:t>1,469</a:t>
            </a:r>
            <a:endParaRPr lang="en-US" sz="2600"/>
          </a:p>
        </p:txBody>
      </p:sp>
      <p:sp>
        <p:nvSpPr>
          <p:cNvPr id="11" name="Shape 11"/>
          <p:cNvSpPr/>
          <p:nvPr/>
        </p:nvSpPr>
        <p:spPr>
          <a:xfrm>
            <a:off x="3630168" y="204825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64748B"/>
                </a:solidFill>
                <a:latin typeface="Aptos"/>
              </a:rPr>
              <a:t>Clean records¹</a:t>
            </a:r>
            <a:endParaRPr lang="en-US" sz="1000"/>
          </a:p>
        </p:txBody>
      </p:sp>
      <p:sp>
        <p:nvSpPr>
          <p:cNvPr id="12" name="Shape 12"/>
          <p:cNvSpPr/>
          <p:nvPr/>
        </p:nvSpPr>
        <p:spPr>
          <a:xfrm>
            <a:off x="6236208" y="141732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3" name="Shape 13"/>
          <p:cNvSpPr/>
          <p:nvPr/>
        </p:nvSpPr>
        <p:spPr>
          <a:xfrm>
            <a:off x="6400800" y="1554480"/>
            <a:ext cx="214884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F59E0B"/>
                </a:solidFill>
                <a:latin typeface="Aptos"/>
              </a:rPr>
              <a:t>138</a:t>
            </a:r>
            <a:endParaRPr lang="en-US" sz="2600"/>
          </a:p>
        </p:txBody>
      </p:sp>
      <p:sp>
        <p:nvSpPr>
          <p:cNvPr id="14" name="Shape 14"/>
          <p:cNvSpPr/>
          <p:nvPr/>
        </p:nvSpPr>
        <p:spPr>
          <a:xfrm>
            <a:off x="6419088" y="204825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64748B"/>
                </a:solidFill>
                <a:latin typeface="Aptos"/>
              </a:rPr>
              <a:t>Duplicate records</a:t>
            </a:r>
            <a:endParaRPr lang="en-US" sz="1000"/>
          </a:p>
        </p:txBody>
      </p:sp>
      <p:sp>
        <p:nvSpPr>
          <p:cNvPr id="15" name="Shape 15"/>
          <p:cNvSpPr/>
          <p:nvPr/>
        </p:nvSpPr>
        <p:spPr>
          <a:xfrm>
            <a:off x="9025128" y="141732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6" name="Shape 16"/>
          <p:cNvSpPr/>
          <p:nvPr/>
        </p:nvSpPr>
        <p:spPr>
          <a:xfrm>
            <a:off x="9189720" y="1554480"/>
            <a:ext cx="214884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3A5F"/>
                </a:solidFill>
                <a:latin typeface="Aptos"/>
              </a:rPr>
              <a:t>72</a:t>
            </a:r>
            <a:endParaRPr lang="en-US" sz="2600"/>
          </a:p>
        </p:txBody>
      </p:sp>
      <p:sp>
        <p:nvSpPr>
          <p:cNvPr id="17" name="Shape 17"/>
          <p:cNvSpPr/>
          <p:nvPr/>
        </p:nvSpPr>
        <p:spPr>
          <a:xfrm>
            <a:off x="9208008" y="204825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64748B"/>
                </a:solidFill>
                <a:latin typeface="Aptos"/>
              </a:rPr>
              <a:t>Missing text</a:t>
            </a:r>
            <a:endParaRPr lang="en-US" sz="1000"/>
          </a:p>
        </p:txBody>
      </p:sp>
      <p:sp>
        <p:nvSpPr>
          <p:cNvPr id="18" name="Shape 18"/>
          <p:cNvSpPr/>
          <p:nvPr/>
        </p:nvSpPr>
        <p:spPr>
          <a:xfrm>
            <a:off x="658368" y="2788920"/>
            <a:ext cx="52852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841248" y="2907792"/>
            <a:ext cx="4919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2563EB"/>
                </a:solidFill>
                <a:latin typeface="Aptos"/>
              </a:rPr>
              <a:t>KOLUNA KONTENTU</a:t>
            </a:r>
            <a:endParaRPr lang="en-US" sz="900"/>
          </a:p>
        </p:txBody>
      </p:sp>
      <p:sp>
        <p:nvSpPr>
          <p:cNvPr id="20" name="Shape 20"/>
          <p:cNvSpPr/>
          <p:nvPr/>
        </p:nvSpPr>
        <p:spPr>
          <a:xfrm>
            <a:off x="841248" y="3182112"/>
            <a:ext cx="4919472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200" b="1" i="0">
                <a:solidFill>
                  <a:srgbClr val="1E293B"/>
                </a:solidFill>
                <a:latin typeface="Aptos"/>
              </a:rPr>
              <a:t>text  ·  cleaned_text  ·  language</a:t>
            </a:r>
            <a:endParaRPr lang="en-US" sz="1200"/>
          </a:p>
          <a:p>
            <a:pPr algn="l" marL="0" indent="0">
              <a:buNone/>
            </a:pPr>
            <a:r>
              <a:rPr lang="en-US" sz="1200" b="1" i="0">
                <a:solidFill>
                  <a:srgbClr val="1E293B"/>
                </a:solidFill>
                <a:latin typeface="Aptos"/>
              </a:rPr>
              <a:t>sentiment  ·  label</a:t>
            </a:r>
            <a:endParaRPr lang="en-US" sz="1200"/>
          </a:p>
        </p:txBody>
      </p:sp>
      <p:sp>
        <p:nvSpPr>
          <p:cNvPr id="21" name="Shape 21"/>
          <p:cNvSpPr/>
          <p:nvPr/>
        </p:nvSpPr>
        <p:spPr>
          <a:xfrm>
            <a:off x="6144768" y="2788920"/>
            <a:ext cx="536752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2" name="Shape 22"/>
          <p:cNvSpPr/>
          <p:nvPr/>
        </p:nvSpPr>
        <p:spPr>
          <a:xfrm>
            <a:off x="6327648" y="2907792"/>
            <a:ext cx="50017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F59E0B"/>
                </a:solidFill>
                <a:latin typeface="Aptos"/>
              </a:rPr>
              <a:t>KOLUNA UTILIZADÓR</a:t>
            </a:r>
            <a:endParaRPr lang="en-US" sz="900"/>
          </a:p>
        </p:txBody>
      </p:sp>
      <p:sp>
        <p:nvSpPr>
          <p:cNvPr id="23" name="Shape 23"/>
          <p:cNvSpPr/>
          <p:nvPr/>
        </p:nvSpPr>
        <p:spPr>
          <a:xfrm>
            <a:off x="6327648" y="3182112"/>
            <a:ext cx="5001768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200" b="1" i="0">
                <a:solidFill>
                  <a:srgbClr val="1E293B"/>
                </a:solidFill>
                <a:latin typeface="Aptos"/>
              </a:rPr>
              <a:t>author_name  ·  gender</a:t>
            </a:r>
            <a:endParaRPr lang="en-US" sz="1200"/>
          </a:p>
          <a:p>
            <a:pPr algn="l" marL="0" indent="0">
              <a:buNone/>
            </a:pPr>
            <a:r>
              <a:rPr lang="en-US" sz="1200" b="1" i="0">
                <a:solidFill>
                  <a:srgbClr val="1E293B"/>
                </a:solidFill>
                <a:latin typeface="Aptos"/>
              </a:rPr>
              <a:t>author_facebook_id</a:t>
            </a:r>
            <a:endParaRPr lang="en-US" sz="1200"/>
          </a:p>
        </p:txBody>
      </p:sp>
      <p:sp>
        <p:nvSpPr>
          <p:cNvPr id="24" name="Shape 24"/>
          <p:cNvSpPr/>
          <p:nvPr/>
        </p:nvSpPr>
        <p:spPr>
          <a:xfrm>
            <a:off x="658368" y="4078224"/>
            <a:ext cx="52852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5" name="Shape 25"/>
          <p:cNvSpPr/>
          <p:nvPr/>
        </p:nvSpPr>
        <p:spPr>
          <a:xfrm>
            <a:off x="841248" y="4197096"/>
            <a:ext cx="4919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16A34A"/>
                </a:solidFill>
                <a:latin typeface="Aptos"/>
              </a:rPr>
              <a:t>KOLUNA ENGAGEMENT</a:t>
            </a:r>
            <a:endParaRPr lang="en-US" sz="900"/>
          </a:p>
        </p:txBody>
      </p:sp>
      <p:sp>
        <p:nvSpPr>
          <p:cNvPr id="26" name="Shape 26"/>
          <p:cNvSpPr/>
          <p:nvPr/>
        </p:nvSpPr>
        <p:spPr>
          <a:xfrm>
            <a:off x="841248" y="4471416"/>
            <a:ext cx="4919472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200" b="1" i="0">
                <a:solidFill>
                  <a:srgbClr val="1E293B"/>
                </a:solidFill>
                <a:latin typeface="Aptos"/>
              </a:rPr>
              <a:t>likes_count  ·  comments_count</a:t>
            </a:r>
            <a:endParaRPr lang="en-US" sz="1200"/>
          </a:p>
        </p:txBody>
      </p:sp>
      <p:sp>
        <p:nvSpPr>
          <p:cNvPr id="27" name="Shape 27"/>
          <p:cNvSpPr/>
          <p:nvPr/>
        </p:nvSpPr>
        <p:spPr>
          <a:xfrm>
            <a:off x="6144768" y="4078224"/>
            <a:ext cx="536752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8" name="Shape 28"/>
          <p:cNvSpPr/>
          <p:nvPr/>
        </p:nvSpPr>
        <p:spPr>
          <a:xfrm>
            <a:off x="6327648" y="4197096"/>
            <a:ext cx="50017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1E3A5F"/>
                </a:solidFill>
                <a:latin typeface="Aptos"/>
              </a:rPr>
              <a:t>KOLUNA TEMPU / FONTE</a:t>
            </a:r>
            <a:endParaRPr lang="en-US" sz="900"/>
          </a:p>
        </p:txBody>
      </p:sp>
      <p:sp>
        <p:nvSpPr>
          <p:cNvPr id="29" name="Shape 29"/>
          <p:cNvSpPr/>
          <p:nvPr/>
        </p:nvSpPr>
        <p:spPr>
          <a:xfrm>
            <a:off x="6327648" y="4471416"/>
            <a:ext cx="5001768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200" b="1" i="0">
                <a:solidFill>
                  <a:srgbClr val="1E293B"/>
                </a:solidFill>
                <a:latin typeface="Aptos"/>
              </a:rPr>
              <a:t>date  ·  facebook_url  ·  post_title</a:t>
            </a:r>
            <a:endParaRPr lang="en-US" sz="1200"/>
          </a:p>
        </p:txBody>
      </p:sp>
      <p:sp>
        <p:nvSpPr>
          <p:cNvPr id="30" name="Shape 30"/>
          <p:cNvSpPr/>
          <p:nvPr/>
        </p:nvSpPr>
        <p:spPr>
          <a:xfrm>
            <a:off x="704088" y="5431536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0" i="1">
                <a:solidFill>
                  <a:srgbClr val="64748B"/>
                </a:solidFill>
                <a:latin typeface="Aptos"/>
              </a:rPr>
              <a:t>¹ Clean records = registros ho text ne’ebé la’ós duplicate (1,679 − 138 − 72).</a:t>
            </a:r>
            <a:endParaRPr lang="en-US" sz="900"/>
          </a:p>
        </p:txBody>
      </p:sp>
    </p:spTree>
    <p:clrMapOvr>
      <a:masterClrMapping/>
    </p:clrMapOvr>
  </p:cSld>
</p:sld>
</file>

<file path=ppt/slides/slide6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85216" y="237744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05 · PIPELINE</a:t>
            </a:r>
            <a:endParaRPr lang="en-US" sz="1000"/>
          </a:p>
        </p:txBody>
      </p:sp>
      <p:sp>
        <p:nvSpPr>
          <p:cNvPr id="3" name="Shape 3"/>
          <p:cNvSpPr/>
          <p:nvPr/>
        </p:nvSpPr>
        <p:spPr>
          <a:xfrm>
            <a:off x="585216" y="576072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293B"/>
                </a:solidFill>
                <a:latin typeface="Aptos"/>
              </a:rPr>
              <a:t>Pipeline: hosi dadus raw ba insight</a:t>
            </a:r>
            <a:endParaRPr lang="en-US" sz="2600"/>
          </a:p>
        </p:txBody>
      </p:sp>
      <p:sp>
        <p:nvSpPr>
          <p:cNvPr id="4" name="Shape 4"/>
          <p:cNvSpPr/>
          <p:nvPr/>
        </p:nvSpPr>
        <p:spPr>
          <a:xfrm>
            <a:off x="585216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5" name="Shape 5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06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713232" y="1389888"/>
            <a:ext cx="34015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896112" y="1554480"/>
            <a:ext cx="512064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600" b="1" i="0">
                <a:solidFill>
                  <a:srgbClr val="2563EB"/>
                </a:solidFill>
                <a:latin typeface="Aptos"/>
              </a:rPr>
              <a:t>01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1499616" y="15544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1E293B"/>
                </a:solidFill>
                <a:latin typeface="Aptos"/>
              </a:rPr>
              <a:t>Import Dataset</a:t>
            </a:r>
            <a:endParaRPr lang="en-US" sz="1300"/>
          </a:p>
        </p:txBody>
      </p:sp>
      <p:sp>
        <p:nvSpPr>
          <p:cNvPr id="9" name="Shape 9"/>
          <p:cNvSpPr/>
          <p:nvPr/>
        </p:nvSpPr>
        <p:spPr>
          <a:xfrm>
            <a:off x="896112" y="2048256"/>
            <a:ext cx="29718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0" name="Shape 10"/>
          <p:cNvSpPr/>
          <p:nvPr/>
        </p:nvSpPr>
        <p:spPr>
          <a:xfrm>
            <a:off x="4416552" y="1389888"/>
            <a:ext cx="34015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599432" y="1554480"/>
            <a:ext cx="512064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600" b="1" i="0">
                <a:solidFill>
                  <a:srgbClr val="F59E0B"/>
                </a:solidFill>
                <a:latin typeface="Aptos"/>
              </a:rPr>
              <a:t>02</a:t>
            </a:r>
            <a:endParaRPr lang="en-US" sz="1600"/>
          </a:p>
        </p:txBody>
      </p:sp>
      <p:sp>
        <p:nvSpPr>
          <p:cNvPr id="12" name="Shape 12"/>
          <p:cNvSpPr/>
          <p:nvPr/>
        </p:nvSpPr>
        <p:spPr>
          <a:xfrm>
            <a:off x="5202936" y="15544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1E293B"/>
                </a:solidFill>
                <a:latin typeface="Aptos"/>
              </a:rPr>
              <a:t>Cleaning</a:t>
            </a:r>
            <a:endParaRPr lang="en-US" sz="1300"/>
          </a:p>
        </p:txBody>
      </p:sp>
      <p:sp>
        <p:nvSpPr>
          <p:cNvPr id="13" name="Shape 13"/>
          <p:cNvSpPr/>
          <p:nvPr/>
        </p:nvSpPr>
        <p:spPr>
          <a:xfrm>
            <a:off x="4599432" y="2048256"/>
            <a:ext cx="297180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8119872" y="1389888"/>
            <a:ext cx="34015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8302752" y="1554480"/>
            <a:ext cx="512064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600" b="1" i="0">
                <a:solidFill>
                  <a:srgbClr val="16A34A"/>
                </a:solidFill>
                <a:latin typeface="Aptos"/>
              </a:rPr>
              <a:t>03</a:t>
            </a:r>
            <a:endParaRPr lang="en-US" sz="1600"/>
          </a:p>
        </p:txBody>
      </p:sp>
      <p:sp>
        <p:nvSpPr>
          <p:cNvPr id="16" name="Shape 16"/>
          <p:cNvSpPr/>
          <p:nvPr/>
        </p:nvSpPr>
        <p:spPr>
          <a:xfrm>
            <a:off x="8906256" y="15544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1E293B"/>
                </a:solidFill>
                <a:latin typeface="Aptos"/>
              </a:rPr>
              <a:t>Preview antes/depois</a:t>
            </a:r>
            <a:endParaRPr lang="en-US" sz="1300"/>
          </a:p>
        </p:txBody>
      </p:sp>
      <p:sp>
        <p:nvSpPr>
          <p:cNvPr id="17" name="Shape 17"/>
          <p:cNvSpPr/>
          <p:nvPr/>
        </p:nvSpPr>
        <p:spPr>
          <a:xfrm>
            <a:off x="8302752" y="2048256"/>
            <a:ext cx="2971800" cy="320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8" name="Shape 18"/>
          <p:cNvSpPr/>
          <p:nvPr/>
        </p:nvSpPr>
        <p:spPr>
          <a:xfrm>
            <a:off x="8119872" y="2852928"/>
            <a:ext cx="34015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8302752" y="3017520"/>
            <a:ext cx="512064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600" b="1" i="0">
                <a:solidFill>
                  <a:srgbClr val="F59E0B"/>
                </a:solidFill>
                <a:latin typeface="Aptos"/>
              </a:rPr>
              <a:t>04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906256" y="301752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1E293B"/>
                </a:solidFill>
                <a:latin typeface="Aptos"/>
              </a:rPr>
              <a:t>Labeling</a:t>
            </a:r>
            <a:endParaRPr lang="en-US" sz="1300"/>
          </a:p>
        </p:txBody>
      </p:sp>
      <p:sp>
        <p:nvSpPr>
          <p:cNvPr id="21" name="Shape 21"/>
          <p:cNvSpPr/>
          <p:nvPr/>
        </p:nvSpPr>
        <p:spPr>
          <a:xfrm>
            <a:off x="8302752" y="3511296"/>
            <a:ext cx="297180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2" name="Shape 22"/>
          <p:cNvSpPr/>
          <p:nvPr/>
        </p:nvSpPr>
        <p:spPr>
          <a:xfrm>
            <a:off x="4416552" y="2852928"/>
            <a:ext cx="34015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3" name="Shape 23"/>
          <p:cNvSpPr/>
          <p:nvPr/>
        </p:nvSpPr>
        <p:spPr>
          <a:xfrm>
            <a:off x="4599432" y="3017520"/>
            <a:ext cx="512064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600" b="1" i="0">
                <a:solidFill>
                  <a:srgbClr val="16A34A"/>
                </a:solidFill>
                <a:latin typeface="Aptos"/>
              </a:rPr>
              <a:t>05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202936" y="301752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1E293B"/>
                </a:solidFill>
                <a:latin typeface="Aptos"/>
              </a:rPr>
              <a:t>Wordlist</a:t>
            </a:r>
            <a:endParaRPr lang="en-US" sz="1300"/>
          </a:p>
        </p:txBody>
      </p:sp>
      <p:sp>
        <p:nvSpPr>
          <p:cNvPr id="25" name="Shape 25"/>
          <p:cNvSpPr/>
          <p:nvPr/>
        </p:nvSpPr>
        <p:spPr>
          <a:xfrm>
            <a:off x="4599432" y="3511296"/>
            <a:ext cx="2971800" cy="320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6" name="Shape 26"/>
          <p:cNvSpPr/>
          <p:nvPr/>
        </p:nvSpPr>
        <p:spPr>
          <a:xfrm>
            <a:off x="713232" y="2852928"/>
            <a:ext cx="34015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896112" y="3017520"/>
            <a:ext cx="512064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600" b="1" i="0">
                <a:solidFill>
                  <a:srgbClr val="2563EB"/>
                </a:solidFill>
                <a:latin typeface="Aptos"/>
              </a:rPr>
              <a:t>06</a:t>
            </a:r>
            <a:endParaRPr lang="en-US" sz="1600"/>
          </a:p>
        </p:txBody>
      </p:sp>
      <p:sp>
        <p:nvSpPr>
          <p:cNvPr id="28" name="Shape 28"/>
          <p:cNvSpPr/>
          <p:nvPr/>
        </p:nvSpPr>
        <p:spPr>
          <a:xfrm>
            <a:off x="1499616" y="301752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1E293B"/>
                </a:solidFill>
                <a:latin typeface="Aptos"/>
              </a:rPr>
              <a:t>Decision Tree</a:t>
            </a:r>
            <a:endParaRPr lang="en-US" sz="1300"/>
          </a:p>
        </p:txBody>
      </p:sp>
      <p:sp>
        <p:nvSpPr>
          <p:cNvPr id="29" name="Shape 29"/>
          <p:cNvSpPr/>
          <p:nvPr/>
        </p:nvSpPr>
        <p:spPr>
          <a:xfrm>
            <a:off x="896112" y="3511296"/>
            <a:ext cx="29718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713232" y="4315968"/>
            <a:ext cx="34015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1" name="Shape 31"/>
          <p:cNvSpPr/>
          <p:nvPr/>
        </p:nvSpPr>
        <p:spPr>
          <a:xfrm>
            <a:off x="896112" y="4480560"/>
            <a:ext cx="512064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600" b="1" i="0">
                <a:solidFill>
                  <a:srgbClr val="16A34A"/>
                </a:solidFill>
                <a:latin typeface="Aptos"/>
              </a:rPr>
              <a:t>07</a:t>
            </a:r>
            <a:endParaRPr lang="en-US" sz="1600"/>
          </a:p>
        </p:txBody>
      </p:sp>
      <p:sp>
        <p:nvSpPr>
          <p:cNvPr id="32" name="Shape 32"/>
          <p:cNvSpPr/>
          <p:nvPr/>
        </p:nvSpPr>
        <p:spPr>
          <a:xfrm>
            <a:off x="1499616" y="44805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1E293B"/>
                </a:solidFill>
                <a:latin typeface="Aptos"/>
              </a:rPr>
              <a:t>Sentiment Analysis</a:t>
            </a:r>
            <a:endParaRPr lang="en-US" sz="1300"/>
          </a:p>
        </p:txBody>
      </p:sp>
      <p:sp>
        <p:nvSpPr>
          <p:cNvPr id="33" name="Shape 33"/>
          <p:cNvSpPr/>
          <p:nvPr/>
        </p:nvSpPr>
        <p:spPr>
          <a:xfrm>
            <a:off x="896112" y="4974336"/>
            <a:ext cx="2971800" cy="320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4" name="Shape 34"/>
          <p:cNvSpPr/>
          <p:nvPr/>
        </p:nvSpPr>
        <p:spPr>
          <a:xfrm>
            <a:off x="4416552" y="4315968"/>
            <a:ext cx="34015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5" name="Shape 35"/>
          <p:cNvSpPr/>
          <p:nvPr/>
        </p:nvSpPr>
        <p:spPr>
          <a:xfrm>
            <a:off x="4599432" y="4480560"/>
            <a:ext cx="512064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600" b="1" i="0">
                <a:solidFill>
                  <a:srgbClr val="2563EB"/>
                </a:solidFill>
                <a:latin typeface="Aptos"/>
              </a:rPr>
              <a:t>08</a:t>
            </a:r>
            <a:endParaRPr lang="en-US" sz="1600"/>
          </a:p>
        </p:txBody>
      </p:sp>
      <p:sp>
        <p:nvSpPr>
          <p:cNvPr id="36" name="Shape 36"/>
          <p:cNvSpPr/>
          <p:nvPr/>
        </p:nvSpPr>
        <p:spPr>
          <a:xfrm>
            <a:off x="5202936" y="44805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1E293B"/>
                </a:solidFill>
                <a:latin typeface="Aptos"/>
              </a:rPr>
              <a:t>Dashboard</a:t>
            </a:r>
            <a:endParaRPr lang="en-US" sz="1300"/>
          </a:p>
        </p:txBody>
      </p:sp>
      <p:sp>
        <p:nvSpPr>
          <p:cNvPr id="37" name="Shape 37"/>
          <p:cNvSpPr/>
          <p:nvPr/>
        </p:nvSpPr>
        <p:spPr>
          <a:xfrm>
            <a:off x="4599432" y="4974336"/>
            <a:ext cx="29718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8" name="Shape 38"/>
          <p:cNvSpPr/>
          <p:nvPr/>
        </p:nvSpPr>
        <p:spPr>
          <a:xfrm>
            <a:off x="8119872" y="4315968"/>
            <a:ext cx="34015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9" name="Shape 39"/>
          <p:cNvSpPr/>
          <p:nvPr/>
        </p:nvSpPr>
        <p:spPr>
          <a:xfrm>
            <a:off x="8302752" y="4480560"/>
            <a:ext cx="512064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600" b="1" i="0">
                <a:solidFill>
                  <a:srgbClr val="F59E0B"/>
                </a:solidFill>
                <a:latin typeface="Aptos"/>
              </a:rPr>
              <a:t>09</a:t>
            </a:r>
            <a:endParaRPr lang="en-US" sz="1600"/>
          </a:p>
        </p:txBody>
      </p:sp>
      <p:sp>
        <p:nvSpPr>
          <p:cNvPr id="40" name="Shape 40"/>
          <p:cNvSpPr/>
          <p:nvPr/>
        </p:nvSpPr>
        <p:spPr>
          <a:xfrm>
            <a:off x="8906256" y="44805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1E293B"/>
                </a:solidFill>
                <a:latin typeface="Aptos"/>
              </a:rPr>
              <a:t>Insight</a:t>
            </a:r>
            <a:endParaRPr lang="en-US" sz="1300"/>
          </a:p>
        </p:txBody>
      </p:sp>
      <p:sp>
        <p:nvSpPr>
          <p:cNvPr id="41" name="Shape 41"/>
          <p:cNvSpPr/>
          <p:nvPr/>
        </p:nvSpPr>
        <p:spPr>
          <a:xfrm>
            <a:off x="8302752" y="4974336"/>
            <a:ext cx="297180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42" name="Shape 42"/>
          <p:cNvSpPr/>
          <p:nvPr/>
        </p:nvSpPr>
        <p:spPr>
          <a:xfrm>
            <a:off x="4123944" y="172821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700" b="1" i="0">
                <a:solidFill>
                  <a:srgbClr val="2563EB"/>
                </a:solidFill>
                <a:latin typeface="Aptos"/>
              </a:rPr>
              <a:t>→</a:t>
            </a:r>
            <a:endParaRPr lang="en-US" sz="1700"/>
          </a:p>
        </p:txBody>
      </p:sp>
      <p:sp>
        <p:nvSpPr>
          <p:cNvPr id="43" name="Shape 43"/>
          <p:cNvSpPr/>
          <p:nvPr/>
        </p:nvSpPr>
        <p:spPr>
          <a:xfrm>
            <a:off x="7827264" y="172821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700" b="1" i="0">
                <a:solidFill>
                  <a:srgbClr val="2563EB"/>
                </a:solidFill>
                <a:latin typeface="Aptos"/>
              </a:rPr>
              <a:t>→</a:t>
            </a:r>
            <a:endParaRPr lang="en-US" sz="1700"/>
          </a:p>
        </p:txBody>
      </p:sp>
      <p:sp>
        <p:nvSpPr>
          <p:cNvPr id="44" name="Shape 44"/>
          <p:cNvSpPr/>
          <p:nvPr/>
        </p:nvSpPr>
        <p:spPr>
          <a:xfrm>
            <a:off x="9646920" y="2468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500" b="1" i="0">
                <a:solidFill>
                  <a:srgbClr val="2563EB"/>
                </a:solidFill>
                <a:latin typeface="Aptos"/>
              </a:rPr>
              <a:t>↓</a:t>
            </a:r>
            <a:endParaRPr lang="en-US" sz="1500"/>
          </a:p>
        </p:txBody>
      </p:sp>
      <p:sp>
        <p:nvSpPr>
          <p:cNvPr id="45" name="Shape 45"/>
          <p:cNvSpPr/>
          <p:nvPr/>
        </p:nvSpPr>
        <p:spPr>
          <a:xfrm>
            <a:off x="7827264" y="319125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700" b="1" i="0">
                <a:solidFill>
                  <a:srgbClr val="2563EB"/>
                </a:solidFill>
                <a:latin typeface="Aptos"/>
              </a:rPr>
              <a:t>→</a:t>
            </a:r>
            <a:endParaRPr lang="en-US" sz="1700"/>
          </a:p>
        </p:txBody>
      </p:sp>
      <p:sp>
        <p:nvSpPr>
          <p:cNvPr id="46" name="Shape 46"/>
          <p:cNvSpPr/>
          <p:nvPr/>
        </p:nvSpPr>
        <p:spPr>
          <a:xfrm>
            <a:off x="4123944" y="319125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700" b="1" i="0">
                <a:solidFill>
                  <a:srgbClr val="2563EB"/>
                </a:solidFill>
                <a:latin typeface="Aptos"/>
              </a:rPr>
              <a:t>→</a:t>
            </a:r>
            <a:endParaRPr lang="en-US" sz="1700"/>
          </a:p>
        </p:txBody>
      </p:sp>
      <p:sp>
        <p:nvSpPr>
          <p:cNvPr id="47" name="Shape 47"/>
          <p:cNvSpPr/>
          <p:nvPr/>
        </p:nvSpPr>
        <p:spPr>
          <a:xfrm>
            <a:off x="2240280" y="39319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500" b="1" i="0">
                <a:solidFill>
                  <a:srgbClr val="2563EB"/>
                </a:solidFill>
                <a:latin typeface="Aptos"/>
              </a:rPr>
              <a:t>↓</a:t>
            </a:r>
            <a:endParaRPr lang="en-US" sz="1500"/>
          </a:p>
        </p:txBody>
      </p:sp>
      <p:sp>
        <p:nvSpPr>
          <p:cNvPr id="48" name="Shape 48"/>
          <p:cNvSpPr/>
          <p:nvPr/>
        </p:nvSpPr>
        <p:spPr>
          <a:xfrm>
            <a:off x="4123944" y="465429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700" b="1" i="0">
                <a:solidFill>
                  <a:srgbClr val="2563EB"/>
                </a:solidFill>
                <a:latin typeface="Aptos"/>
              </a:rPr>
              <a:t>→</a:t>
            </a:r>
            <a:endParaRPr lang="en-US" sz="1700"/>
          </a:p>
        </p:txBody>
      </p:sp>
      <p:sp>
        <p:nvSpPr>
          <p:cNvPr id="49" name="Shape 49"/>
          <p:cNvSpPr/>
          <p:nvPr/>
        </p:nvSpPr>
        <p:spPr>
          <a:xfrm>
            <a:off x="7827264" y="465429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700" b="1" i="0">
                <a:solidFill>
                  <a:srgbClr val="2563EB"/>
                </a:solidFill>
                <a:latin typeface="Aptos"/>
              </a:rPr>
              <a:t>→</a:t>
            </a:r>
            <a:endParaRPr lang="en-US" sz="1700"/>
          </a:p>
        </p:txBody>
      </p:sp>
      <p:sp>
        <p:nvSpPr>
          <p:cNvPr id="50" name="Shape 50"/>
          <p:cNvSpPr/>
          <p:nvPr/>
        </p:nvSpPr>
        <p:spPr>
          <a:xfrm>
            <a:off x="777240" y="5925312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000" b="1" i="0">
                <a:solidFill>
                  <a:srgbClr val="64748B"/>
                </a:solidFill>
                <a:latin typeface="Aptos"/>
              </a:rPr>
              <a:t>IMPORT  →  LIMPEZA  →  LABEL  →  MODEL  →  DASHBOARD</a:t>
            </a:r>
            <a:endParaRPr lang="en-US" sz="1000"/>
          </a:p>
        </p:txBody>
      </p:sp>
    </p:spTree>
    <p:clrMapOvr>
      <a:masterClrMapping/>
    </p:clrMapOvr>
  </p:cSld>
</p:sld>
</file>

<file path=ppt/slides/slide7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85216" y="237744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06 · MÉTODO</a:t>
            </a:r>
            <a:endParaRPr lang="en-US" sz="1000"/>
          </a:p>
        </p:txBody>
      </p:sp>
      <p:sp>
        <p:nvSpPr>
          <p:cNvPr id="3" name="Shape 3"/>
          <p:cNvSpPr/>
          <p:nvPr/>
        </p:nvSpPr>
        <p:spPr>
          <a:xfrm>
            <a:off x="585216" y="576072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293B"/>
                </a:solidFill>
                <a:latin typeface="Aptos"/>
              </a:rPr>
              <a:t>Métodu analítika iha sistema</a:t>
            </a:r>
            <a:endParaRPr lang="en-US" sz="2600"/>
          </a:p>
        </p:txBody>
      </p:sp>
      <p:sp>
        <p:nvSpPr>
          <p:cNvPr id="4" name="Shape 4"/>
          <p:cNvSpPr/>
          <p:nvPr/>
        </p:nvSpPr>
        <p:spPr>
          <a:xfrm>
            <a:off x="585216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5" name="Shape 5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07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658368" y="1508760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676656" y="1618488"/>
            <a:ext cx="41148" cy="13533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841248" y="1636776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CLEANING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841248" y="2075688"/>
            <a:ext cx="3127248" cy="8961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Remove emoji, URL, mention no HTML; normaliza whitespace.</a:t>
            </a:r>
            <a:endParaRPr lang="en-US" sz="1100"/>
          </a:p>
        </p:txBody>
      </p:sp>
      <p:sp>
        <p:nvSpPr>
          <p:cNvPr id="10" name="Shape 10"/>
          <p:cNvSpPr/>
          <p:nvPr/>
        </p:nvSpPr>
        <p:spPr>
          <a:xfrm>
            <a:off x="4334256" y="1508760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352544" y="1618488"/>
            <a:ext cx="41148" cy="1353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4517136" y="1636776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WORDLIST</a:t>
            </a:r>
            <a:endParaRPr lang="en-US" sz="1500"/>
          </a:p>
        </p:txBody>
      </p:sp>
      <p:sp>
        <p:nvSpPr>
          <p:cNvPr id="13" name="Shape 13"/>
          <p:cNvSpPr/>
          <p:nvPr/>
        </p:nvSpPr>
        <p:spPr>
          <a:xfrm>
            <a:off x="4517136" y="2075688"/>
            <a:ext cx="3127248" cy="8961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Lexicon suporta Tetum, Indonesian, Portuguese no English.</a:t>
            </a:r>
            <a:endParaRPr lang="en-US" sz="1100"/>
          </a:p>
        </p:txBody>
      </p:sp>
      <p:sp>
        <p:nvSpPr>
          <p:cNvPr id="14" name="Shape 14"/>
          <p:cNvSpPr/>
          <p:nvPr/>
        </p:nvSpPr>
        <p:spPr>
          <a:xfrm>
            <a:off x="8010144" y="1508760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8028432" y="1618488"/>
            <a:ext cx="41148" cy="13533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6" name="Shape 16"/>
          <p:cNvSpPr/>
          <p:nvPr/>
        </p:nvSpPr>
        <p:spPr>
          <a:xfrm>
            <a:off x="8193024" y="1636776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LABELING</a:t>
            </a:r>
            <a:endParaRPr lang="en-US" sz="1500"/>
          </a:p>
        </p:txBody>
      </p:sp>
      <p:sp>
        <p:nvSpPr>
          <p:cNvPr id="17" name="Shape 17"/>
          <p:cNvSpPr/>
          <p:nvPr/>
        </p:nvSpPr>
        <p:spPr>
          <a:xfrm>
            <a:off x="8193024" y="2075688"/>
            <a:ext cx="3127248" cy="8961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Komentáriu klasifika ba Positive, Neutral no Negative.</a:t>
            </a:r>
            <a:endParaRPr lang="en-US" sz="1100"/>
          </a:p>
        </p:txBody>
      </p:sp>
      <p:sp>
        <p:nvSpPr>
          <p:cNvPr id="18" name="Shape 18"/>
          <p:cNvSpPr/>
          <p:nvPr/>
        </p:nvSpPr>
        <p:spPr>
          <a:xfrm>
            <a:off x="658368" y="3383280"/>
            <a:ext cx="53309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676656" y="3493008"/>
            <a:ext cx="41148" cy="13533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841248" y="3511296"/>
            <a:ext cx="4965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DECISION TREE</a:t>
            </a:r>
            <a:endParaRPr lang="en-US" sz="1500"/>
          </a:p>
        </p:txBody>
      </p:sp>
      <p:sp>
        <p:nvSpPr>
          <p:cNvPr id="21" name="Shape 21"/>
          <p:cNvSpPr/>
          <p:nvPr/>
        </p:nvSpPr>
        <p:spPr>
          <a:xfrm>
            <a:off x="841248" y="3950208"/>
            <a:ext cx="4965192" cy="8961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TF-IDF transforma textu; Decision Tree halo klasifikasaun.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190488" y="3383280"/>
            <a:ext cx="53218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3" name="Shape 23"/>
          <p:cNvSpPr/>
          <p:nvPr/>
        </p:nvSpPr>
        <p:spPr>
          <a:xfrm>
            <a:off x="6208776" y="3493008"/>
            <a:ext cx="41148" cy="13533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4" name="Shape 24"/>
          <p:cNvSpPr/>
          <p:nvPr/>
        </p:nvSpPr>
        <p:spPr>
          <a:xfrm>
            <a:off x="6373368" y="3511296"/>
            <a:ext cx="495604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EVALUATION</a:t>
            </a:r>
            <a:endParaRPr lang="en-US" sz="1500"/>
          </a:p>
        </p:txBody>
      </p:sp>
      <p:sp>
        <p:nvSpPr>
          <p:cNvPr id="25" name="Shape 25"/>
          <p:cNvSpPr/>
          <p:nvPr/>
        </p:nvSpPr>
        <p:spPr>
          <a:xfrm>
            <a:off x="6373368" y="3950208"/>
            <a:ext cx="4956048" cy="8961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Accuracy, Precision, Recall, F1 no Confusion Matrix.</a:t>
            </a:r>
            <a:endParaRPr lang="en-US" sz="1100"/>
          </a:p>
        </p:txBody>
      </p:sp>
      <p:sp>
        <p:nvSpPr>
          <p:cNvPr id="26" name="Shape 26"/>
          <p:cNvSpPr/>
          <p:nvPr/>
        </p:nvSpPr>
        <p:spPr>
          <a:xfrm>
            <a:off x="658368" y="5504688"/>
            <a:ext cx="1088136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877824" y="5605272"/>
            <a:ext cx="10378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0" i="0">
                <a:solidFill>
                  <a:srgbClr val="64748B"/>
                </a:solidFill>
                <a:latin typeface="Aptos"/>
              </a:rPr>
              <a:t>Sentimentu automaticu uza wordlist; ML aprende padraun husi label sira ne’e.</a:t>
            </a:r>
            <a:endParaRPr lang="en-US" sz="1000"/>
          </a:p>
        </p:txBody>
      </p:sp>
    </p:spTree>
    <p:clrMapOvr>
      <a:masterClrMapping/>
    </p:clrMapOvr>
  </p:cSld>
</p:sld>
</file>

<file path=ppt/slides/slide8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85216" y="237744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07 · SISTEMA</a:t>
            </a:r>
            <a:endParaRPr lang="en-US" sz="1000"/>
          </a:p>
        </p:txBody>
      </p:sp>
      <p:sp>
        <p:nvSpPr>
          <p:cNvPr id="3" name="Shape 3"/>
          <p:cNvSpPr/>
          <p:nvPr/>
        </p:nvSpPr>
        <p:spPr>
          <a:xfrm>
            <a:off x="585216" y="576072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293B"/>
                </a:solidFill>
                <a:latin typeface="Aptos"/>
              </a:rPr>
              <a:t>Sistema no papel utilizadór</a:t>
            </a:r>
            <a:endParaRPr lang="en-US" sz="2600"/>
          </a:p>
        </p:txBody>
      </p:sp>
      <p:sp>
        <p:nvSpPr>
          <p:cNvPr id="4" name="Shape 4"/>
          <p:cNvSpPr/>
          <p:nvPr/>
        </p:nvSpPr>
        <p:spPr>
          <a:xfrm>
            <a:off x="585216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5" name="Shape 5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08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21208" y="1490472"/>
            <a:ext cx="987552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557784" y="162763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40" b="1" i="0">
                <a:solidFill>
                  <a:srgbClr val="2563EB"/>
                </a:solidFill>
                <a:latin typeface="Aptos"/>
              </a:rPr>
              <a:t>USER</a:t>
            </a:r>
            <a:endParaRPr lang="en-US" sz="840"/>
          </a:p>
        </p:txBody>
      </p:sp>
      <p:sp>
        <p:nvSpPr>
          <p:cNvPr id="8" name="Shape 8"/>
          <p:cNvSpPr/>
          <p:nvPr/>
        </p:nvSpPr>
        <p:spPr>
          <a:xfrm>
            <a:off x="1517904" y="1691640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400" b="1" i="0">
                <a:solidFill>
                  <a:srgbClr val="64748B"/>
                </a:solidFill>
                <a:latin typeface="Aptos"/>
              </a:rPr>
              <a:t>›</a:t>
            </a:r>
            <a:endParaRPr lang="en-US" sz="1400"/>
          </a:p>
        </p:txBody>
      </p:sp>
      <p:sp>
        <p:nvSpPr>
          <p:cNvPr id="9" name="Shape 9"/>
          <p:cNvSpPr/>
          <p:nvPr/>
        </p:nvSpPr>
        <p:spPr>
          <a:xfrm>
            <a:off x="1682496" y="1490472"/>
            <a:ext cx="9875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0" name="Shape 10"/>
          <p:cNvSpPr/>
          <p:nvPr/>
        </p:nvSpPr>
        <p:spPr>
          <a:xfrm>
            <a:off x="1719072" y="162763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40" b="1" i="0">
                <a:solidFill>
                  <a:srgbClr val="F59E0B"/>
                </a:solidFill>
                <a:latin typeface="Aptos"/>
              </a:rPr>
              <a:t>LOGIN</a:t>
            </a:r>
            <a:endParaRPr lang="en-US" sz="840"/>
          </a:p>
        </p:txBody>
      </p:sp>
      <p:sp>
        <p:nvSpPr>
          <p:cNvPr id="11" name="Shape 11"/>
          <p:cNvSpPr/>
          <p:nvPr/>
        </p:nvSpPr>
        <p:spPr>
          <a:xfrm>
            <a:off x="2679192" y="1691640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400" b="1" i="0">
                <a:solidFill>
                  <a:srgbClr val="64748B"/>
                </a:solidFill>
                <a:latin typeface="Aptos"/>
              </a:rPr>
              <a:t>›</a:t>
            </a: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2843784" y="1490472"/>
            <a:ext cx="987552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3" name="Shape 13"/>
          <p:cNvSpPr/>
          <p:nvPr/>
        </p:nvSpPr>
        <p:spPr>
          <a:xfrm>
            <a:off x="2880360" y="162763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40" b="1" i="0">
                <a:solidFill>
                  <a:srgbClr val="16A34A"/>
                </a:solidFill>
                <a:latin typeface="Aptos"/>
              </a:rPr>
              <a:t>IMPORT CSV</a:t>
            </a:r>
            <a:endParaRPr lang="en-US" sz="840"/>
          </a:p>
        </p:txBody>
      </p:sp>
      <p:sp>
        <p:nvSpPr>
          <p:cNvPr id="14" name="Shape 14"/>
          <p:cNvSpPr/>
          <p:nvPr/>
        </p:nvSpPr>
        <p:spPr>
          <a:xfrm>
            <a:off x="3840480" y="1691640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400" b="1" i="0">
                <a:solidFill>
                  <a:srgbClr val="64748B"/>
                </a:solidFill>
                <a:latin typeface="Aptos"/>
              </a:rPr>
              <a:t>›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4005072" y="1490472"/>
            <a:ext cx="9875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6" name="Shape 16"/>
          <p:cNvSpPr/>
          <p:nvPr/>
        </p:nvSpPr>
        <p:spPr>
          <a:xfrm>
            <a:off x="4041648" y="162763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40" b="1" i="0">
                <a:solidFill>
                  <a:srgbClr val="1E3A5F"/>
                </a:solidFill>
                <a:latin typeface="Aptos"/>
              </a:rPr>
              <a:t>CLEANING</a:t>
            </a:r>
            <a:endParaRPr lang="en-US" sz="840"/>
          </a:p>
        </p:txBody>
      </p:sp>
      <p:sp>
        <p:nvSpPr>
          <p:cNvPr id="17" name="Shape 17"/>
          <p:cNvSpPr/>
          <p:nvPr/>
        </p:nvSpPr>
        <p:spPr>
          <a:xfrm>
            <a:off x="5001768" y="1691640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400" b="1" i="0">
                <a:solidFill>
                  <a:srgbClr val="64748B"/>
                </a:solidFill>
                <a:latin typeface="Aptos"/>
              </a:rPr>
              <a:t>›</a:t>
            </a:r>
            <a:endParaRPr lang="en-US" sz="1400"/>
          </a:p>
        </p:txBody>
      </p:sp>
      <p:sp>
        <p:nvSpPr>
          <p:cNvPr id="18" name="Shape 18"/>
          <p:cNvSpPr/>
          <p:nvPr/>
        </p:nvSpPr>
        <p:spPr>
          <a:xfrm>
            <a:off x="5166360" y="1490472"/>
            <a:ext cx="987552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5202936" y="162763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40" b="1" i="0">
                <a:solidFill>
                  <a:srgbClr val="2563EB"/>
                </a:solidFill>
                <a:latin typeface="Aptos"/>
              </a:rPr>
              <a:t>LABELING</a:t>
            </a:r>
            <a:endParaRPr lang="en-US" sz="840"/>
          </a:p>
        </p:txBody>
      </p:sp>
      <p:sp>
        <p:nvSpPr>
          <p:cNvPr id="20" name="Shape 20"/>
          <p:cNvSpPr/>
          <p:nvPr/>
        </p:nvSpPr>
        <p:spPr>
          <a:xfrm>
            <a:off x="6163056" y="1691640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400" b="1" i="0">
                <a:solidFill>
                  <a:srgbClr val="64748B"/>
                </a:solidFill>
                <a:latin typeface="Aptos"/>
              </a:rPr>
              <a:t>›</a:t>
            </a:r>
            <a:endParaRPr lang="en-US" sz="1400"/>
          </a:p>
        </p:txBody>
      </p:sp>
      <p:sp>
        <p:nvSpPr>
          <p:cNvPr id="21" name="Shape 21"/>
          <p:cNvSpPr/>
          <p:nvPr/>
        </p:nvSpPr>
        <p:spPr>
          <a:xfrm>
            <a:off x="6327648" y="1490472"/>
            <a:ext cx="9875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2" name="Shape 22"/>
          <p:cNvSpPr/>
          <p:nvPr/>
        </p:nvSpPr>
        <p:spPr>
          <a:xfrm>
            <a:off x="6364224" y="162763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40" b="1" i="0">
                <a:solidFill>
                  <a:srgbClr val="F59E0B"/>
                </a:solidFill>
                <a:latin typeface="Aptos"/>
              </a:rPr>
              <a:t>WORDLIST</a:t>
            </a:r>
            <a:endParaRPr lang="en-US" sz="840"/>
          </a:p>
        </p:txBody>
      </p:sp>
      <p:sp>
        <p:nvSpPr>
          <p:cNvPr id="23" name="Shape 23"/>
          <p:cNvSpPr/>
          <p:nvPr/>
        </p:nvSpPr>
        <p:spPr>
          <a:xfrm>
            <a:off x="7324344" y="1691640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400" b="1" i="0">
                <a:solidFill>
                  <a:srgbClr val="64748B"/>
                </a:solidFill>
                <a:latin typeface="Aptos"/>
              </a:rPr>
              <a:t>›</a:t>
            </a:r>
            <a:endParaRPr lang="en-US" sz="1400"/>
          </a:p>
        </p:txBody>
      </p:sp>
      <p:sp>
        <p:nvSpPr>
          <p:cNvPr id="24" name="Shape 24"/>
          <p:cNvSpPr/>
          <p:nvPr/>
        </p:nvSpPr>
        <p:spPr>
          <a:xfrm>
            <a:off x="7488936" y="1490472"/>
            <a:ext cx="987552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5" name="Shape 25"/>
          <p:cNvSpPr/>
          <p:nvPr/>
        </p:nvSpPr>
        <p:spPr>
          <a:xfrm>
            <a:off x="7525512" y="162763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40" b="1" i="0">
                <a:solidFill>
                  <a:srgbClr val="16A34A"/>
                </a:solidFill>
                <a:latin typeface="Aptos"/>
              </a:rPr>
              <a:t>DECISION TREE</a:t>
            </a:r>
            <a:endParaRPr lang="en-US" sz="840"/>
          </a:p>
        </p:txBody>
      </p:sp>
      <p:sp>
        <p:nvSpPr>
          <p:cNvPr id="26" name="Shape 26"/>
          <p:cNvSpPr/>
          <p:nvPr/>
        </p:nvSpPr>
        <p:spPr>
          <a:xfrm>
            <a:off x="8485632" y="1691640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400" b="1" i="0">
                <a:solidFill>
                  <a:srgbClr val="64748B"/>
                </a:solidFill>
                <a:latin typeface="Aptos"/>
              </a:rPr>
              <a:t>›</a:t>
            </a: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8650224" y="1490472"/>
            <a:ext cx="9875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8" name="Shape 28"/>
          <p:cNvSpPr/>
          <p:nvPr/>
        </p:nvSpPr>
        <p:spPr>
          <a:xfrm>
            <a:off x="8686800" y="162763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40" b="1" i="0">
                <a:solidFill>
                  <a:srgbClr val="1E3A5F"/>
                </a:solidFill>
                <a:latin typeface="Aptos"/>
              </a:rPr>
              <a:t>ANALYSIS</a:t>
            </a:r>
            <a:endParaRPr lang="en-US" sz="840"/>
          </a:p>
        </p:txBody>
      </p:sp>
      <p:sp>
        <p:nvSpPr>
          <p:cNvPr id="29" name="Shape 29"/>
          <p:cNvSpPr/>
          <p:nvPr/>
        </p:nvSpPr>
        <p:spPr>
          <a:xfrm>
            <a:off x="9646920" y="1691640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400" b="1" i="0">
                <a:solidFill>
                  <a:srgbClr val="64748B"/>
                </a:solidFill>
                <a:latin typeface="Aptos"/>
              </a:rPr>
              <a:t>›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9811512" y="1490472"/>
            <a:ext cx="987552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1" name="Shape 31"/>
          <p:cNvSpPr/>
          <p:nvPr/>
        </p:nvSpPr>
        <p:spPr>
          <a:xfrm>
            <a:off x="9848088" y="162763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40" b="1" i="0">
                <a:solidFill>
                  <a:srgbClr val="2563EB"/>
                </a:solidFill>
                <a:latin typeface="Aptos"/>
              </a:rPr>
              <a:t>DASHBOARD</a:t>
            </a:r>
            <a:endParaRPr lang="en-US" sz="840"/>
          </a:p>
        </p:txBody>
      </p:sp>
      <p:sp>
        <p:nvSpPr>
          <p:cNvPr id="32" name="Shape 32"/>
          <p:cNvSpPr/>
          <p:nvPr/>
        </p:nvSpPr>
        <p:spPr>
          <a:xfrm>
            <a:off x="10808208" y="1691640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400" b="1" i="0">
                <a:solidFill>
                  <a:srgbClr val="64748B"/>
                </a:solidFill>
                <a:latin typeface="Aptos"/>
              </a:rPr>
              <a:t>›</a:t>
            </a:r>
            <a:endParaRPr lang="en-US" sz="1400"/>
          </a:p>
        </p:txBody>
      </p:sp>
      <p:sp>
        <p:nvSpPr>
          <p:cNvPr id="33" name="Shape 33"/>
          <p:cNvSpPr/>
          <p:nvPr/>
        </p:nvSpPr>
        <p:spPr>
          <a:xfrm>
            <a:off x="10972800" y="1490472"/>
            <a:ext cx="9875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4" name="Shape 34"/>
          <p:cNvSpPr/>
          <p:nvPr/>
        </p:nvSpPr>
        <p:spPr>
          <a:xfrm>
            <a:off x="11009376" y="162763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40" b="1" i="0">
                <a:solidFill>
                  <a:srgbClr val="F59E0B"/>
                </a:solidFill>
                <a:latin typeface="Aptos"/>
              </a:rPr>
              <a:t>INSIGHT</a:t>
            </a:r>
            <a:endParaRPr lang="en-US" sz="840"/>
          </a:p>
        </p:txBody>
      </p:sp>
      <p:sp>
        <p:nvSpPr>
          <p:cNvPr id="35" name="Shape 35"/>
          <p:cNvSpPr/>
          <p:nvPr/>
        </p:nvSpPr>
        <p:spPr>
          <a:xfrm>
            <a:off x="658368" y="2587752"/>
            <a:ext cx="52852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6" name="Shape 36"/>
          <p:cNvSpPr/>
          <p:nvPr/>
        </p:nvSpPr>
        <p:spPr>
          <a:xfrm>
            <a:off x="676656" y="2697480"/>
            <a:ext cx="41148" cy="17922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7" name="Shape 37"/>
          <p:cNvSpPr/>
          <p:nvPr/>
        </p:nvSpPr>
        <p:spPr>
          <a:xfrm>
            <a:off x="841248" y="2715768"/>
            <a:ext cx="49194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ADMIN</a:t>
            </a:r>
            <a:endParaRPr lang="en-US" sz="1500"/>
          </a:p>
        </p:txBody>
      </p:sp>
      <p:sp>
        <p:nvSpPr>
          <p:cNvPr id="38" name="Shape 38"/>
          <p:cNvSpPr/>
          <p:nvPr/>
        </p:nvSpPr>
        <p:spPr>
          <a:xfrm>
            <a:off x="841248" y="3154680"/>
            <a:ext cx="4919472" cy="13350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Jere utilizadór, dataset no wordlist; asesu ba import, cleaning, labeling no Decision Tree.</a:t>
            </a:r>
            <a:endParaRPr lang="en-US" sz="1100"/>
          </a:p>
        </p:txBody>
      </p:sp>
      <p:sp>
        <p:nvSpPr>
          <p:cNvPr id="39" name="Shape 39"/>
          <p:cNvSpPr/>
          <p:nvPr/>
        </p:nvSpPr>
        <p:spPr>
          <a:xfrm>
            <a:off x="6144768" y="2587752"/>
            <a:ext cx="536752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6163056" y="2697480"/>
            <a:ext cx="41148" cy="17922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41" name="Shape 41"/>
          <p:cNvSpPr/>
          <p:nvPr/>
        </p:nvSpPr>
        <p:spPr>
          <a:xfrm>
            <a:off x="6327648" y="2715768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USER</a:t>
            </a:r>
            <a:endParaRPr lang="en-US" sz="1500"/>
          </a:p>
        </p:txBody>
      </p:sp>
      <p:sp>
        <p:nvSpPr>
          <p:cNvPr id="42" name="Shape 42"/>
          <p:cNvSpPr/>
          <p:nvPr/>
        </p:nvSpPr>
        <p:spPr>
          <a:xfrm>
            <a:off x="6327648" y="3154680"/>
            <a:ext cx="5001768" cy="13350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Login no asesu ba dataset, sentiment analysis, dashboard, Data Visualization no Data Analysis.</a:t>
            </a:r>
            <a:endParaRPr lang="en-US" sz="1100"/>
          </a:p>
        </p:txBody>
      </p:sp>
      <p:sp>
        <p:nvSpPr>
          <p:cNvPr id="43" name="Shape 43"/>
          <p:cNvSpPr/>
          <p:nvPr/>
        </p:nvSpPr>
        <p:spPr>
          <a:xfrm>
            <a:off x="749808" y="4956048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000" b="1" i="0">
                <a:solidFill>
                  <a:srgbClr val="64748B"/>
                </a:solidFill>
                <a:latin typeface="Aptos"/>
              </a:rPr>
              <a:t>DB: SQLite  ·  Tabela facebook_records  ·  sentiment_words  ·  model_training_history</a:t>
            </a:r>
            <a:endParaRPr lang="en-US" sz="1000"/>
          </a:p>
        </p:txBody>
      </p:sp>
    </p:spTree>
    <p:clrMapOvr>
      <a:masterClrMapping/>
    </p:clrMapOvr>
  </p:cSld>
</p:sld>
</file>

<file path=ppt/slides/slide9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85216" y="237744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08 · DASHBOARD</a:t>
            </a:r>
            <a:endParaRPr lang="en-US" sz="1000"/>
          </a:p>
        </p:txBody>
      </p:sp>
      <p:sp>
        <p:nvSpPr>
          <p:cNvPr id="3" name="Shape 3"/>
          <p:cNvSpPr/>
          <p:nvPr/>
        </p:nvSpPr>
        <p:spPr>
          <a:xfrm>
            <a:off x="585216" y="576072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293B"/>
                </a:solidFill>
                <a:latin typeface="Aptos"/>
              </a:rPr>
              <a:t>Menu no vizualizasaun dashboard</a:t>
            </a:r>
            <a:endParaRPr lang="en-US" sz="2600"/>
          </a:p>
        </p:txBody>
      </p:sp>
      <p:sp>
        <p:nvSpPr>
          <p:cNvPr id="4" name="Shape 4"/>
          <p:cNvSpPr/>
          <p:nvPr/>
        </p:nvSpPr>
        <p:spPr>
          <a:xfrm>
            <a:off x="585216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5" name="Shape 5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09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713232" y="1389888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2563EB"/>
                </a:solidFill>
                <a:latin typeface="Aptos"/>
              </a:rPr>
              <a:t>FEATURE IHA SISTEMA</a:t>
            </a:r>
            <a:endParaRPr lang="en-US" sz="900"/>
          </a:p>
        </p:txBody>
      </p:sp>
      <p:sp>
        <p:nvSpPr>
          <p:cNvPr id="7" name="Shape 7"/>
          <p:cNvSpPr/>
          <p:nvPr/>
        </p:nvSpPr>
        <p:spPr>
          <a:xfrm>
            <a:off x="713232" y="1755648"/>
            <a:ext cx="226771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832104" y="1847088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40" b="1" i="0">
                <a:solidFill>
                  <a:srgbClr val="1E293B"/>
                </a:solidFill>
                <a:latin typeface="Aptos"/>
              </a:rPr>
              <a:t>Dashboard</a:t>
            </a:r>
            <a:endParaRPr lang="en-US" sz="940"/>
          </a:p>
        </p:txBody>
      </p:sp>
      <p:sp>
        <p:nvSpPr>
          <p:cNvPr id="9" name="Shape 9"/>
          <p:cNvSpPr/>
          <p:nvPr/>
        </p:nvSpPr>
        <p:spPr>
          <a:xfrm>
            <a:off x="3163824" y="1755648"/>
            <a:ext cx="226771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0" name="Shape 10"/>
          <p:cNvSpPr/>
          <p:nvPr/>
        </p:nvSpPr>
        <p:spPr>
          <a:xfrm>
            <a:off x="3282696" y="1847088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40" b="1" i="0">
                <a:solidFill>
                  <a:srgbClr val="1E293B"/>
                </a:solidFill>
                <a:latin typeface="Aptos"/>
              </a:rPr>
              <a:t>Dataset Explorer</a:t>
            </a:r>
            <a:endParaRPr lang="en-US" sz="940"/>
          </a:p>
        </p:txBody>
      </p:sp>
      <p:sp>
        <p:nvSpPr>
          <p:cNvPr id="11" name="Shape 11"/>
          <p:cNvSpPr/>
          <p:nvPr/>
        </p:nvSpPr>
        <p:spPr>
          <a:xfrm>
            <a:off x="713232" y="2414016"/>
            <a:ext cx="226771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832104" y="2505456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40" b="1" i="0">
                <a:solidFill>
                  <a:srgbClr val="1E293B"/>
                </a:solidFill>
                <a:latin typeface="Aptos"/>
              </a:rPr>
              <a:t>Cleaning</a:t>
            </a:r>
            <a:endParaRPr lang="en-US" sz="940"/>
          </a:p>
        </p:txBody>
      </p:sp>
      <p:sp>
        <p:nvSpPr>
          <p:cNvPr id="13" name="Shape 13"/>
          <p:cNvSpPr/>
          <p:nvPr/>
        </p:nvSpPr>
        <p:spPr>
          <a:xfrm>
            <a:off x="3163824" y="2414016"/>
            <a:ext cx="226771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3282696" y="2505456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40" b="1" i="0">
                <a:solidFill>
                  <a:srgbClr val="1E293B"/>
                </a:solidFill>
                <a:latin typeface="Aptos"/>
              </a:rPr>
              <a:t>Labeling</a:t>
            </a:r>
            <a:endParaRPr lang="en-US" sz="940"/>
          </a:p>
        </p:txBody>
      </p:sp>
      <p:sp>
        <p:nvSpPr>
          <p:cNvPr id="15" name="Shape 15"/>
          <p:cNvSpPr/>
          <p:nvPr/>
        </p:nvSpPr>
        <p:spPr>
          <a:xfrm>
            <a:off x="713232" y="3072384"/>
            <a:ext cx="226771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6" name="Shape 16"/>
          <p:cNvSpPr/>
          <p:nvPr/>
        </p:nvSpPr>
        <p:spPr>
          <a:xfrm>
            <a:off x="832104" y="3163824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40" b="1" i="0">
                <a:solidFill>
                  <a:srgbClr val="1E293B"/>
                </a:solidFill>
                <a:latin typeface="Aptos"/>
              </a:rPr>
              <a:t>Sentiment Analysis</a:t>
            </a:r>
            <a:endParaRPr lang="en-US" sz="940"/>
          </a:p>
        </p:txBody>
      </p:sp>
      <p:sp>
        <p:nvSpPr>
          <p:cNvPr id="17" name="Shape 17"/>
          <p:cNvSpPr/>
          <p:nvPr/>
        </p:nvSpPr>
        <p:spPr>
          <a:xfrm>
            <a:off x="3163824" y="3072384"/>
            <a:ext cx="226771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8" name="Shape 18"/>
          <p:cNvSpPr/>
          <p:nvPr/>
        </p:nvSpPr>
        <p:spPr>
          <a:xfrm>
            <a:off x="3282696" y="3163824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40" b="1" i="0">
                <a:solidFill>
                  <a:srgbClr val="1E293B"/>
                </a:solidFill>
                <a:latin typeface="Aptos"/>
              </a:rPr>
              <a:t>Data Visualization</a:t>
            </a:r>
            <a:endParaRPr lang="en-US" sz="940"/>
          </a:p>
        </p:txBody>
      </p:sp>
      <p:sp>
        <p:nvSpPr>
          <p:cNvPr id="19" name="Shape 19"/>
          <p:cNvSpPr/>
          <p:nvPr/>
        </p:nvSpPr>
        <p:spPr>
          <a:xfrm>
            <a:off x="713232" y="3730752"/>
            <a:ext cx="226771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832104" y="3822192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40" b="1" i="0">
                <a:solidFill>
                  <a:srgbClr val="1E293B"/>
                </a:solidFill>
                <a:latin typeface="Aptos"/>
              </a:rPr>
              <a:t>Data Analysis</a:t>
            </a:r>
            <a:endParaRPr lang="en-US" sz="940"/>
          </a:p>
        </p:txBody>
      </p:sp>
      <p:sp>
        <p:nvSpPr>
          <p:cNvPr id="21" name="Shape 21"/>
          <p:cNvSpPr/>
          <p:nvPr/>
        </p:nvSpPr>
        <p:spPr>
          <a:xfrm>
            <a:off x="3163824" y="3730752"/>
            <a:ext cx="226771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2" name="Shape 22"/>
          <p:cNvSpPr/>
          <p:nvPr/>
        </p:nvSpPr>
        <p:spPr>
          <a:xfrm>
            <a:off x="3282696" y="3822192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40" b="1" i="0">
                <a:solidFill>
                  <a:srgbClr val="1E293B"/>
                </a:solidFill>
                <a:latin typeface="Aptos"/>
              </a:rPr>
              <a:t>Decision Tree</a:t>
            </a:r>
            <a:endParaRPr lang="en-US" sz="940"/>
          </a:p>
        </p:txBody>
      </p:sp>
      <p:sp>
        <p:nvSpPr>
          <p:cNvPr id="23" name="Shape 23"/>
          <p:cNvSpPr/>
          <p:nvPr/>
        </p:nvSpPr>
        <p:spPr>
          <a:xfrm>
            <a:off x="713232" y="4389120"/>
            <a:ext cx="226771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4" name="Shape 24"/>
          <p:cNvSpPr/>
          <p:nvPr/>
        </p:nvSpPr>
        <p:spPr>
          <a:xfrm>
            <a:off x="832104" y="4480560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40" b="1" i="0">
                <a:solidFill>
                  <a:srgbClr val="1E293B"/>
                </a:solidFill>
                <a:latin typeface="Aptos"/>
              </a:rPr>
              <a:t>Wordlist</a:t>
            </a:r>
            <a:endParaRPr lang="en-US" sz="940"/>
          </a:p>
        </p:txBody>
      </p:sp>
      <p:sp>
        <p:nvSpPr>
          <p:cNvPr id="25" name="Shape 25"/>
          <p:cNvSpPr/>
          <p:nvPr/>
        </p:nvSpPr>
        <p:spPr>
          <a:xfrm>
            <a:off x="3163824" y="4389120"/>
            <a:ext cx="226771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6" name="Shape 26"/>
          <p:cNvSpPr/>
          <p:nvPr/>
        </p:nvSpPr>
        <p:spPr>
          <a:xfrm>
            <a:off x="3282696" y="4480560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40" b="1" i="0">
                <a:solidFill>
                  <a:srgbClr val="1E293B"/>
                </a:solidFill>
                <a:latin typeface="Aptos"/>
              </a:rPr>
              <a:t>User Management</a:t>
            </a:r>
            <a:endParaRPr lang="en-US" sz="940"/>
          </a:p>
        </p:txBody>
      </p:sp>
      <p:sp>
        <p:nvSpPr>
          <p:cNvPr id="27" name="Shape 27"/>
          <p:cNvSpPr/>
          <p:nvPr/>
        </p:nvSpPr>
        <p:spPr>
          <a:xfrm>
            <a:off x="5806440" y="1417320"/>
            <a:ext cx="5715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8" name="Shape 28"/>
          <p:cNvSpPr/>
          <p:nvPr/>
        </p:nvSpPr>
        <p:spPr>
          <a:xfrm>
            <a:off x="6144768" y="17465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DASHBOARD FACEBOOK</a:t>
            </a:r>
            <a:endParaRPr lang="en-US" sz="1000"/>
          </a:p>
        </p:txBody>
      </p:sp>
      <p:sp>
        <p:nvSpPr>
          <p:cNvPr id="29" name="Shape 29"/>
          <p:cNvSpPr/>
          <p:nvPr/>
        </p:nvSpPr>
        <p:spPr>
          <a:xfrm>
            <a:off x="6199632" y="2249424"/>
            <a:ext cx="4919472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6419088" y="2999232"/>
            <a:ext cx="44805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600" b="1" i="0">
                <a:solidFill>
                  <a:srgbClr val="64748B"/>
                </a:solidFill>
                <a:latin typeface="Aptos"/>
              </a:rPr>
              <a:t>[SCREENSHOT DASHBOARD]</a:t>
            </a:r>
            <a:endParaRPr lang="en-US" sz="1600"/>
          </a:p>
        </p:txBody>
      </p:sp>
      <p:sp>
        <p:nvSpPr>
          <p:cNvPr id="31" name="Shape 31"/>
          <p:cNvSpPr/>
          <p:nvPr/>
        </p:nvSpPr>
        <p:spPr>
          <a:xfrm>
            <a:off x="6400800" y="3529584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000" b="0" i="0">
                <a:solidFill>
                  <a:srgbClr val="64748B"/>
                </a:solidFill>
                <a:latin typeface="Aptos"/>
              </a:rPr>
              <a:t>Screenshot real la iha iha ficheiru sistema.</a:t>
            </a:r>
            <a:endParaRPr lang="en-US" sz="1000"/>
          </a:p>
        </p:txBody>
      </p:sp>
      <p:sp>
        <p:nvSpPr>
          <p:cNvPr id="32" name="Shape 32"/>
          <p:cNvSpPr/>
          <p:nvPr/>
        </p:nvSpPr>
        <p:spPr>
          <a:xfrm>
            <a:off x="6309360" y="5074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100" b="1" i="0">
                <a:solidFill>
                  <a:srgbClr val="1E293B"/>
                </a:solidFill>
                <a:latin typeface="Aptos"/>
              </a:rPr>
              <a:t>Positive      Neutral      Negative</a:t>
            </a:r>
            <a:endParaRPr lang="en-US" sz="1100"/>
          </a:p>
        </p:txBody>
      </p:sp>
    </p:spTree>
    <p:clrMapOvr>
      <a:masterClrMapping/>
    </p:clrMapOvr>
  </p:cSld>
</p:sld>
</file>

<file path=ppt/slides/slide10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85216" y="237744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09 · INSIGHT</a:t>
            </a:r>
            <a:endParaRPr lang="en-US" sz="1000"/>
          </a:p>
        </p:txBody>
      </p:sp>
      <p:sp>
        <p:nvSpPr>
          <p:cNvPr id="3" name="Shape 3"/>
          <p:cNvSpPr/>
          <p:nvPr/>
        </p:nvSpPr>
        <p:spPr>
          <a:xfrm>
            <a:off x="585216" y="576072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293B"/>
                </a:solidFill>
                <a:latin typeface="Aptos"/>
              </a:rPr>
              <a:t>Ezemplu insight ne’ebé visual sira hatudu</a:t>
            </a:r>
            <a:endParaRPr lang="en-US" sz="2600"/>
          </a:p>
        </p:txBody>
      </p:sp>
      <p:sp>
        <p:nvSpPr>
          <p:cNvPr id="4" name="Shape 4"/>
          <p:cNvSpPr/>
          <p:nvPr/>
        </p:nvSpPr>
        <p:spPr>
          <a:xfrm>
            <a:off x="585216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5" name="Shape 5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10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658368" y="1426464"/>
            <a:ext cx="5102352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896112" y="1627632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2563EB"/>
                </a:solidFill>
                <a:latin typeface="Aptos"/>
              </a:rPr>
              <a:t>SENTIMENTU IHA DATABASE ATUAL</a:t>
            </a:r>
            <a:endParaRPr lang="en-US" sz="900"/>
          </a:p>
        </p:txBody>
      </p:sp>
      <p:sp>
        <p:nvSpPr>
          <p:cNvPr id="8" name="Shape 8"/>
          <p:cNvSpPr/>
          <p:nvPr/>
        </p:nvSpPr>
        <p:spPr>
          <a:xfrm>
            <a:off x="914400" y="217627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100" b="1" i="0">
                <a:solidFill>
                  <a:srgbClr val="1E293B"/>
                </a:solidFill>
                <a:latin typeface="Aptos"/>
              </a:rPr>
              <a:t>Neutral</a:t>
            </a:r>
            <a:endParaRPr lang="en-US" sz="1100"/>
          </a:p>
        </p:txBody>
      </p:sp>
      <p:sp>
        <p:nvSpPr>
          <p:cNvPr id="9" name="Shape 9"/>
          <p:cNvSpPr/>
          <p:nvPr/>
        </p:nvSpPr>
        <p:spPr>
          <a:xfrm>
            <a:off x="2066544" y="2212848"/>
            <a:ext cx="2688336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0" name="Shape 10"/>
          <p:cNvSpPr/>
          <p:nvPr/>
        </p:nvSpPr>
        <p:spPr>
          <a:xfrm>
            <a:off x="2066544" y="2212848"/>
            <a:ext cx="2688336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864608" y="2176272"/>
            <a:ext cx="576072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1100" b="1" i="0">
                <a:solidFill>
                  <a:srgbClr val="2563EB"/>
                </a:solidFill>
                <a:latin typeface="Aptos"/>
              </a:rPr>
              <a:t>1086</a:t>
            </a:r>
            <a:endParaRPr lang="en-US" sz="1100"/>
          </a:p>
        </p:txBody>
      </p:sp>
      <p:sp>
        <p:nvSpPr>
          <p:cNvPr id="12" name="Shape 12"/>
          <p:cNvSpPr/>
          <p:nvPr/>
        </p:nvSpPr>
        <p:spPr>
          <a:xfrm>
            <a:off x="914400" y="309067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100" b="1" i="0">
                <a:solidFill>
                  <a:srgbClr val="1E293B"/>
                </a:solidFill>
                <a:latin typeface="Aptos"/>
              </a:rPr>
              <a:t>Positive</a:t>
            </a:r>
            <a:endParaRPr lang="en-US" sz="1100"/>
          </a:p>
        </p:txBody>
      </p:sp>
      <p:sp>
        <p:nvSpPr>
          <p:cNvPr id="13" name="Shape 13"/>
          <p:cNvSpPr/>
          <p:nvPr/>
        </p:nvSpPr>
        <p:spPr>
          <a:xfrm>
            <a:off x="2066544" y="3127248"/>
            <a:ext cx="2688336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2066544" y="3127248"/>
            <a:ext cx="1465465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4864608" y="3090672"/>
            <a:ext cx="576072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1100" b="1" i="0">
                <a:solidFill>
                  <a:srgbClr val="16A34A"/>
                </a:solidFill>
                <a:latin typeface="Aptos"/>
              </a:rPr>
              <a:t>592</a:t>
            </a:r>
            <a:endParaRPr lang="en-US" sz="1100"/>
          </a:p>
        </p:txBody>
      </p:sp>
      <p:sp>
        <p:nvSpPr>
          <p:cNvPr id="16" name="Shape 16"/>
          <p:cNvSpPr/>
          <p:nvPr/>
        </p:nvSpPr>
        <p:spPr>
          <a:xfrm>
            <a:off x="914400" y="400507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100" b="1" i="0">
                <a:solidFill>
                  <a:srgbClr val="1E293B"/>
                </a:solidFill>
                <a:latin typeface="Aptos"/>
              </a:rPr>
              <a:t>Negative</a:t>
            </a:r>
            <a:endParaRPr lang="en-US" sz="1100"/>
          </a:p>
        </p:txBody>
      </p:sp>
      <p:sp>
        <p:nvSpPr>
          <p:cNvPr id="17" name="Shape 17"/>
          <p:cNvSpPr/>
          <p:nvPr/>
        </p:nvSpPr>
        <p:spPr>
          <a:xfrm>
            <a:off x="2066544" y="4041648"/>
            <a:ext cx="2688336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8" name="Shape 18"/>
          <p:cNvSpPr/>
          <p:nvPr/>
        </p:nvSpPr>
        <p:spPr>
          <a:xfrm>
            <a:off x="2066544" y="4041648"/>
            <a:ext cx="32004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4864608" y="4005072"/>
            <a:ext cx="576072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1100" b="1" i="0">
                <a:solidFill>
                  <a:srgbClr val="F59E0B"/>
                </a:solidFill>
                <a:latin typeface="Aptos"/>
              </a:rPr>
              <a:t>1</a:t>
            </a:r>
            <a:endParaRPr lang="en-US" sz="1100"/>
          </a:p>
        </p:txBody>
      </p:sp>
      <p:sp>
        <p:nvSpPr>
          <p:cNvPr id="20" name="Shape 20"/>
          <p:cNvSpPr/>
          <p:nvPr/>
        </p:nvSpPr>
        <p:spPr>
          <a:xfrm>
            <a:off x="914400" y="5193792"/>
            <a:ext cx="4526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840" b="0" i="0">
                <a:solidFill>
                  <a:srgbClr val="64748B"/>
                </a:solidFill>
                <a:latin typeface="Aptos"/>
              </a:rPr>
              <a:t>N = 1,679  ·  fonte: facebook_records.sentiment</a:t>
            </a:r>
            <a:endParaRPr lang="en-US" sz="840"/>
          </a:p>
        </p:txBody>
      </p:sp>
      <p:sp>
        <p:nvSpPr>
          <p:cNvPr id="21" name="Shape 21"/>
          <p:cNvSpPr/>
          <p:nvPr/>
        </p:nvSpPr>
        <p:spPr>
          <a:xfrm>
            <a:off x="6053328" y="1536192"/>
            <a:ext cx="25877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2" name="Shape 22"/>
          <p:cNvSpPr/>
          <p:nvPr/>
        </p:nvSpPr>
        <p:spPr>
          <a:xfrm>
            <a:off x="6071616" y="1645920"/>
            <a:ext cx="41148" cy="1444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3" name="Shape 23"/>
          <p:cNvSpPr/>
          <p:nvPr/>
        </p:nvSpPr>
        <p:spPr>
          <a:xfrm>
            <a:off x="6236208" y="1664208"/>
            <a:ext cx="22219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01 · SENTIMENTU</a:t>
            </a:r>
            <a:endParaRPr lang="en-US" sz="1500"/>
          </a:p>
        </p:txBody>
      </p:sp>
      <p:sp>
        <p:nvSpPr>
          <p:cNvPr id="24" name="Shape 24"/>
          <p:cNvSpPr/>
          <p:nvPr/>
        </p:nvSpPr>
        <p:spPr>
          <a:xfrm>
            <a:off x="6236208" y="2103120"/>
            <a:ext cx="2221992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000" b="0" i="0">
                <a:solidFill>
                  <a:srgbClr val="64748B"/>
                </a:solidFill>
                <a:latin typeface="Aptos"/>
              </a:rPr>
              <a:t>Distribuisaun Positive, Neutral no Negative.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8814816" y="1536192"/>
            <a:ext cx="25877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6" name="Shape 26"/>
          <p:cNvSpPr/>
          <p:nvPr/>
        </p:nvSpPr>
        <p:spPr>
          <a:xfrm>
            <a:off x="8833104" y="1645920"/>
            <a:ext cx="41148" cy="1444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8997696" y="1664208"/>
            <a:ext cx="22219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02 · ENGAGEMENT</a:t>
            </a:r>
            <a:endParaRPr lang="en-US" sz="1500"/>
          </a:p>
        </p:txBody>
      </p:sp>
      <p:sp>
        <p:nvSpPr>
          <p:cNvPr id="28" name="Shape 28"/>
          <p:cNvSpPr/>
          <p:nvPr/>
        </p:nvSpPr>
        <p:spPr>
          <a:xfrm>
            <a:off x="8997696" y="2103120"/>
            <a:ext cx="2221992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000" b="0" i="0">
                <a:solidFill>
                  <a:srgbClr val="64748B"/>
                </a:solidFill>
                <a:latin typeface="Aptos"/>
              </a:rPr>
              <a:t>Likes no comments ajuda haree interasaun.</a:t>
            </a:r>
            <a:endParaRPr lang="en-US" sz="1000"/>
          </a:p>
        </p:txBody>
      </p:sp>
      <p:sp>
        <p:nvSpPr>
          <p:cNvPr id="29" name="Shape 29"/>
          <p:cNvSpPr/>
          <p:nvPr/>
        </p:nvSpPr>
        <p:spPr>
          <a:xfrm>
            <a:off x="6053328" y="3474720"/>
            <a:ext cx="25877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6071616" y="3584448"/>
            <a:ext cx="41148" cy="1444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1" name="Shape 31"/>
          <p:cNvSpPr/>
          <p:nvPr/>
        </p:nvSpPr>
        <p:spPr>
          <a:xfrm>
            <a:off x="6236208" y="3602736"/>
            <a:ext cx="22219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03 · GENDER</a:t>
            </a:r>
            <a:endParaRPr lang="en-US" sz="1500"/>
          </a:p>
        </p:txBody>
      </p:sp>
      <p:sp>
        <p:nvSpPr>
          <p:cNvPr id="32" name="Shape 32"/>
          <p:cNvSpPr/>
          <p:nvPr/>
        </p:nvSpPr>
        <p:spPr>
          <a:xfrm>
            <a:off x="6236208" y="4041648"/>
            <a:ext cx="2221992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000" b="0" i="0">
                <a:solidFill>
                  <a:srgbClr val="64748B"/>
                </a:solidFill>
                <a:latin typeface="Aptos"/>
              </a:rPr>
              <a:t>Kompara sentimentu tuir gender.</a:t>
            </a:r>
            <a:endParaRPr lang="en-US" sz="1000"/>
          </a:p>
        </p:txBody>
      </p:sp>
      <p:sp>
        <p:nvSpPr>
          <p:cNvPr id="33" name="Shape 33"/>
          <p:cNvSpPr/>
          <p:nvPr/>
        </p:nvSpPr>
        <p:spPr>
          <a:xfrm>
            <a:off x="8814816" y="3474720"/>
            <a:ext cx="25877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4" name="Shape 34"/>
          <p:cNvSpPr/>
          <p:nvPr/>
        </p:nvSpPr>
        <p:spPr>
          <a:xfrm>
            <a:off x="8833104" y="3584448"/>
            <a:ext cx="41148" cy="1444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5" name="Shape 35"/>
          <p:cNvSpPr/>
          <p:nvPr/>
        </p:nvSpPr>
        <p:spPr>
          <a:xfrm>
            <a:off x="8997696" y="3602736"/>
            <a:ext cx="22219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04 · TENDÉNSIA</a:t>
            </a:r>
            <a:endParaRPr lang="en-US" sz="1500"/>
          </a:p>
        </p:txBody>
      </p:sp>
      <p:sp>
        <p:nvSpPr>
          <p:cNvPr id="36" name="Shape 36"/>
          <p:cNvSpPr/>
          <p:nvPr/>
        </p:nvSpPr>
        <p:spPr>
          <a:xfrm>
            <a:off x="8997696" y="4041648"/>
            <a:ext cx="2221992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000" b="0" i="0">
                <a:solidFill>
                  <a:srgbClr val="64748B"/>
                </a:solidFill>
                <a:latin typeface="Aptos"/>
              </a:rPr>
              <a:t>Haree volume no sentimentu tuir tempu.</a:t>
            </a:r>
            <a:endParaRPr lang="en-US" sz="1000"/>
          </a:p>
        </p:txBody>
      </p:sp>
    </p:spTree>
    <p:clrMapOvr>
      <a:masterClrMapping/>
    </p:clrMapOvr>
  </p:cSld>
</p:sld>
</file>

<file path=ppt/slides/slide11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85216" y="237744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10 · EVALUATION</a:t>
            </a:r>
            <a:endParaRPr lang="en-US" sz="1000"/>
          </a:p>
        </p:txBody>
      </p:sp>
      <p:sp>
        <p:nvSpPr>
          <p:cNvPr id="3" name="Shape 3"/>
          <p:cNvSpPr/>
          <p:nvPr/>
        </p:nvSpPr>
        <p:spPr>
          <a:xfrm>
            <a:off x="585216" y="576072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293B"/>
                </a:solidFill>
                <a:latin typeface="Aptos"/>
              </a:rPr>
              <a:t>Evaluation: oinsá atu hatene kualidade?</a:t>
            </a:r>
            <a:endParaRPr lang="en-US" sz="2600"/>
          </a:p>
        </p:txBody>
      </p:sp>
      <p:sp>
        <p:nvSpPr>
          <p:cNvPr id="4" name="Shape 4"/>
          <p:cNvSpPr/>
          <p:nvPr/>
        </p:nvSpPr>
        <p:spPr>
          <a:xfrm>
            <a:off x="585216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5" name="Shape 5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11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658368" y="1399032"/>
            <a:ext cx="5559552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868680" y="1581912"/>
            <a:ext cx="49377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2563EB"/>
                </a:solidFill>
                <a:latin typeface="Aptos"/>
              </a:rPr>
              <a:t>CONFUSION MATRIX · TEST SET</a:t>
            </a:r>
            <a:endParaRPr lang="en-US" sz="900"/>
          </a:p>
        </p:txBody>
      </p:sp>
      <p:sp>
        <p:nvSpPr>
          <p:cNvPr id="8" name="Shape 8"/>
          <p:cNvSpPr/>
          <p:nvPr/>
        </p:nvSpPr>
        <p:spPr>
          <a:xfrm>
            <a:off x="1965960" y="180136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50" b="1" i="0">
                <a:solidFill>
                  <a:srgbClr val="64748B"/>
                </a:solidFill>
                <a:latin typeface="Aptos"/>
              </a:rPr>
              <a:t>Positive</a:t>
            </a:r>
            <a:endParaRPr lang="en-US" sz="850"/>
          </a:p>
        </p:txBody>
      </p:sp>
      <p:sp>
        <p:nvSpPr>
          <p:cNvPr id="9" name="Shape 9"/>
          <p:cNvSpPr/>
          <p:nvPr/>
        </p:nvSpPr>
        <p:spPr>
          <a:xfrm>
            <a:off x="3200400" y="180136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50" b="1" i="0">
                <a:solidFill>
                  <a:srgbClr val="64748B"/>
                </a:solidFill>
                <a:latin typeface="Aptos"/>
              </a:rPr>
              <a:t>Negative</a:t>
            </a:r>
            <a:endParaRPr lang="en-US" sz="850"/>
          </a:p>
        </p:txBody>
      </p:sp>
      <p:sp>
        <p:nvSpPr>
          <p:cNvPr id="10" name="Shape 10"/>
          <p:cNvSpPr/>
          <p:nvPr/>
        </p:nvSpPr>
        <p:spPr>
          <a:xfrm>
            <a:off x="4434840" y="180136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850" b="1" i="0">
                <a:solidFill>
                  <a:srgbClr val="64748B"/>
                </a:solidFill>
                <a:latin typeface="Aptos"/>
              </a:rPr>
              <a:t>Neutral</a:t>
            </a:r>
            <a:endParaRPr lang="en-US" sz="850"/>
          </a:p>
        </p:txBody>
      </p:sp>
      <p:sp>
        <p:nvSpPr>
          <p:cNvPr id="11" name="Shape 11"/>
          <p:cNvSpPr/>
          <p:nvPr/>
        </p:nvSpPr>
        <p:spPr>
          <a:xfrm>
            <a:off x="841248" y="2286000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850" b="1" i="0">
                <a:solidFill>
                  <a:srgbClr val="64748B"/>
                </a:solidFill>
                <a:latin typeface="Aptos"/>
              </a:rPr>
              <a:t>Positive</a:t>
            </a:r>
            <a:endParaRPr lang="en-US" sz="850"/>
          </a:p>
        </p:txBody>
      </p:sp>
      <p:sp>
        <p:nvSpPr>
          <p:cNvPr id="12" name="Shape 12"/>
          <p:cNvSpPr/>
          <p:nvPr/>
        </p:nvSpPr>
        <p:spPr>
          <a:xfrm>
            <a:off x="1965960" y="2148840"/>
            <a:ext cx="1115568" cy="56692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3" name="Shape 13"/>
          <p:cNvSpPr/>
          <p:nvPr/>
        </p:nvSpPr>
        <p:spPr>
          <a:xfrm>
            <a:off x="1965960" y="2249424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600" b="1" i="0">
                <a:solidFill>
                  <a:srgbClr val="16A34A"/>
                </a:solidFill>
                <a:latin typeface="Aptos"/>
              </a:rPr>
              <a:t>108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3200400" y="2148840"/>
            <a:ext cx="1115568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3200400" y="2249424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600" b="1" i="0">
                <a:solidFill>
                  <a:srgbClr val="64748B"/>
                </a:solidFill>
                <a:latin typeface="Aptos"/>
              </a:rPr>
              <a:t>0</a:t>
            </a:r>
            <a:endParaRPr lang="en-US" sz="1600"/>
          </a:p>
        </p:txBody>
      </p:sp>
      <p:sp>
        <p:nvSpPr>
          <p:cNvPr id="16" name="Shape 16"/>
          <p:cNvSpPr/>
          <p:nvPr/>
        </p:nvSpPr>
        <p:spPr>
          <a:xfrm>
            <a:off x="4434840" y="2148840"/>
            <a:ext cx="1115568" cy="56692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4434840" y="2249424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600" b="1" i="0">
                <a:solidFill>
                  <a:srgbClr val="16A34A"/>
                </a:solidFill>
                <a:latin typeface="Aptos"/>
              </a:rPr>
              <a:t>4</a:t>
            </a:r>
            <a:endParaRPr lang="en-US" sz="1600"/>
          </a:p>
        </p:txBody>
      </p:sp>
      <p:sp>
        <p:nvSpPr>
          <p:cNvPr id="18" name="Shape 18"/>
          <p:cNvSpPr/>
          <p:nvPr/>
        </p:nvSpPr>
        <p:spPr>
          <a:xfrm>
            <a:off x="841248" y="2999232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850" b="1" i="0">
                <a:solidFill>
                  <a:srgbClr val="64748B"/>
                </a:solidFill>
                <a:latin typeface="Aptos"/>
              </a:rPr>
              <a:t>Negative</a:t>
            </a:r>
            <a:endParaRPr lang="en-US" sz="850"/>
          </a:p>
        </p:txBody>
      </p:sp>
      <p:sp>
        <p:nvSpPr>
          <p:cNvPr id="19" name="Shape 19"/>
          <p:cNvSpPr/>
          <p:nvPr/>
        </p:nvSpPr>
        <p:spPr>
          <a:xfrm>
            <a:off x="1965960" y="2862072"/>
            <a:ext cx="1115568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1965960" y="2962656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600" b="1" i="0">
                <a:solidFill>
                  <a:srgbClr val="64748B"/>
                </a:solidFill>
                <a:latin typeface="Aptos"/>
              </a:rPr>
              <a:t>0</a:t>
            </a:r>
            <a:endParaRPr lang="en-US" sz="1600"/>
          </a:p>
        </p:txBody>
      </p:sp>
      <p:sp>
        <p:nvSpPr>
          <p:cNvPr id="21" name="Shape 21"/>
          <p:cNvSpPr/>
          <p:nvPr/>
        </p:nvSpPr>
        <p:spPr>
          <a:xfrm>
            <a:off x="3200400" y="2862072"/>
            <a:ext cx="1115568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2" name="Shape 22"/>
          <p:cNvSpPr/>
          <p:nvPr/>
        </p:nvSpPr>
        <p:spPr>
          <a:xfrm>
            <a:off x="3200400" y="2962656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600" b="1" i="0">
                <a:solidFill>
                  <a:srgbClr val="64748B"/>
                </a:solidFill>
                <a:latin typeface="Aptos"/>
              </a:rPr>
              <a:t>0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4434840" y="2862072"/>
            <a:ext cx="1115568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4" name="Shape 24"/>
          <p:cNvSpPr/>
          <p:nvPr/>
        </p:nvSpPr>
        <p:spPr>
          <a:xfrm>
            <a:off x="4434840" y="2962656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600" b="1" i="0">
                <a:solidFill>
                  <a:srgbClr val="64748B"/>
                </a:solidFill>
                <a:latin typeface="Aptos"/>
              </a:rPr>
              <a:t>0</a:t>
            </a:r>
            <a:endParaRPr lang="en-US" sz="1600"/>
          </a:p>
        </p:txBody>
      </p:sp>
      <p:sp>
        <p:nvSpPr>
          <p:cNvPr id="25" name="Shape 25"/>
          <p:cNvSpPr/>
          <p:nvPr/>
        </p:nvSpPr>
        <p:spPr>
          <a:xfrm>
            <a:off x="841248" y="3712464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850" b="1" i="0">
                <a:solidFill>
                  <a:srgbClr val="64748B"/>
                </a:solidFill>
                <a:latin typeface="Aptos"/>
              </a:rPr>
              <a:t>Neutral</a:t>
            </a:r>
            <a:endParaRPr lang="en-US" sz="850"/>
          </a:p>
        </p:txBody>
      </p:sp>
      <p:sp>
        <p:nvSpPr>
          <p:cNvPr id="26" name="Shape 26"/>
          <p:cNvSpPr/>
          <p:nvPr/>
        </p:nvSpPr>
        <p:spPr>
          <a:xfrm>
            <a:off x="1965960" y="3575304"/>
            <a:ext cx="1115568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1965960" y="3675888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600" b="1" i="0">
                <a:solidFill>
                  <a:srgbClr val="64748B"/>
                </a:solidFill>
                <a:latin typeface="Aptos"/>
              </a:rPr>
              <a:t>0</a:t>
            </a:r>
            <a:endParaRPr lang="en-US" sz="1600"/>
          </a:p>
        </p:txBody>
      </p:sp>
      <p:sp>
        <p:nvSpPr>
          <p:cNvPr id="28" name="Shape 28"/>
          <p:cNvSpPr/>
          <p:nvPr/>
        </p:nvSpPr>
        <p:spPr>
          <a:xfrm>
            <a:off x="3200400" y="3575304"/>
            <a:ext cx="1115568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29" name="Shape 29"/>
          <p:cNvSpPr/>
          <p:nvPr/>
        </p:nvSpPr>
        <p:spPr>
          <a:xfrm>
            <a:off x="3200400" y="3675888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600" b="1" i="0">
                <a:solidFill>
                  <a:srgbClr val="64748B"/>
                </a:solidFill>
                <a:latin typeface="Aptos"/>
              </a:rPr>
              <a:t>0</a:t>
            </a:r>
            <a:endParaRPr lang="en-US" sz="1600"/>
          </a:p>
        </p:txBody>
      </p:sp>
      <p:sp>
        <p:nvSpPr>
          <p:cNvPr id="30" name="Shape 30"/>
          <p:cNvSpPr/>
          <p:nvPr/>
        </p:nvSpPr>
        <p:spPr>
          <a:xfrm>
            <a:off x="4434840" y="3575304"/>
            <a:ext cx="1115568" cy="56692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1" name="Shape 31"/>
          <p:cNvSpPr/>
          <p:nvPr/>
        </p:nvSpPr>
        <p:spPr>
          <a:xfrm>
            <a:off x="4434840" y="3675888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600" b="1" i="0">
                <a:solidFill>
                  <a:srgbClr val="16A34A"/>
                </a:solidFill>
                <a:latin typeface="Aptos"/>
              </a:rPr>
              <a:t>162</a:t>
            </a:r>
            <a:endParaRPr lang="en-US" sz="1600"/>
          </a:p>
        </p:txBody>
      </p:sp>
      <p:sp>
        <p:nvSpPr>
          <p:cNvPr id="32" name="Shape 32"/>
          <p:cNvSpPr/>
          <p:nvPr/>
        </p:nvSpPr>
        <p:spPr>
          <a:xfrm>
            <a:off x="914400" y="4663440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800" b="0" i="0">
                <a:solidFill>
                  <a:srgbClr val="64748B"/>
                </a:solidFill>
                <a:latin typeface="Aptos"/>
              </a:rPr>
              <a:t>Actual rows  ·  Predicted columns  ·  Order: Positive / Negative / Neutral</a:t>
            </a:r>
            <a:endParaRPr lang="en-US" sz="800"/>
          </a:p>
        </p:txBody>
      </p:sp>
      <p:sp>
        <p:nvSpPr>
          <p:cNvPr id="33" name="Shape 33"/>
          <p:cNvSpPr/>
          <p:nvPr/>
        </p:nvSpPr>
        <p:spPr>
          <a:xfrm>
            <a:off x="6473952" y="1399032"/>
            <a:ext cx="5029200" cy="21762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34" name="Shape 34"/>
          <p:cNvSpPr/>
          <p:nvPr/>
        </p:nvSpPr>
        <p:spPr>
          <a:xfrm>
            <a:off x="6720840" y="1600200"/>
            <a:ext cx="4526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2563EB"/>
                </a:solidFill>
                <a:latin typeface="Aptos"/>
              </a:rPr>
              <a:t>REPORTED METRICS</a:t>
            </a:r>
            <a:endParaRPr lang="en-US" sz="900"/>
          </a:p>
        </p:txBody>
      </p:sp>
      <p:sp>
        <p:nvSpPr>
          <p:cNvPr id="35" name="Shape 35"/>
          <p:cNvSpPr/>
          <p:nvPr/>
        </p:nvSpPr>
        <p:spPr>
          <a:xfrm>
            <a:off x="6748272" y="199339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200" b="1" i="0">
                <a:solidFill>
                  <a:srgbClr val="1E293B"/>
                </a:solidFill>
                <a:latin typeface="Aptos"/>
              </a:rPr>
              <a:t>98.54%</a:t>
            </a:r>
            <a:endParaRPr lang="en-US" sz="2200"/>
          </a:p>
        </p:txBody>
      </p:sp>
      <p:sp>
        <p:nvSpPr>
          <p:cNvPr id="36" name="Shape 36"/>
          <p:cNvSpPr/>
          <p:nvPr/>
        </p:nvSpPr>
        <p:spPr>
          <a:xfrm>
            <a:off x="8531352" y="20391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64748B"/>
                </a:solidFill>
                <a:latin typeface="Aptos"/>
              </a:rPr>
              <a:t>Accuracy</a:t>
            </a:r>
            <a:endParaRPr lang="en-US" sz="1000"/>
          </a:p>
        </p:txBody>
      </p:sp>
      <p:sp>
        <p:nvSpPr>
          <p:cNvPr id="37" name="Shape 37"/>
          <p:cNvSpPr/>
          <p:nvPr/>
        </p:nvSpPr>
        <p:spPr>
          <a:xfrm>
            <a:off x="6748272" y="254203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16A34A"/>
                </a:solidFill>
                <a:latin typeface="Aptos"/>
              </a:rPr>
              <a:t>98.58%</a:t>
            </a:r>
            <a:endParaRPr lang="en-US" sz="1300"/>
          </a:p>
        </p:txBody>
      </p:sp>
      <p:sp>
        <p:nvSpPr>
          <p:cNvPr id="38" name="Shape 38"/>
          <p:cNvSpPr/>
          <p:nvPr/>
        </p:nvSpPr>
        <p:spPr>
          <a:xfrm>
            <a:off x="7891272" y="254203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0" i="0">
                <a:solidFill>
                  <a:srgbClr val="64748B"/>
                </a:solidFill>
                <a:latin typeface="Aptos"/>
              </a:rPr>
              <a:t>Precision</a:t>
            </a:r>
            <a:endParaRPr lang="en-US" sz="900"/>
          </a:p>
        </p:txBody>
      </p:sp>
      <p:sp>
        <p:nvSpPr>
          <p:cNvPr id="39" name="Shape 39"/>
          <p:cNvSpPr/>
          <p:nvPr/>
        </p:nvSpPr>
        <p:spPr>
          <a:xfrm>
            <a:off x="8887968" y="254203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2563EB"/>
                </a:solidFill>
                <a:latin typeface="Aptos"/>
              </a:rPr>
              <a:t>98.54%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10030968" y="25420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0" i="0">
                <a:solidFill>
                  <a:srgbClr val="64748B"/>
                </a:solidFill>
                <a:latin typeface="Aptos"/>
              </a:rPr>
              <a:t>Recall</a:t>
            </a:r>
            <a:endParaRPr lang="en-US" sz="900"/>
          </a:p>
        </p:txBody>
      </p:sp>
      <p:sp>
        <p:nvSpPr>
          <p:cNvPr id="41" name="Shape 41"/>
          <p:cNvSpPr/>
          <p:nvPr/>
        </p:nvSpPr>
        <p:spPr>
          <a:xfrm>
            <a:off x="6748272" y="29809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300" b="1" i="0">
                <a:solidFill>
                  <a:srgbClr val="1E3A5F"/>
                </a:solidFill>
                <a:latin typeface="Aptos"/>
              </a:rPr>
              <a:t>98.54%</a:t>
            </a:r>
            <a:endParaRPr lang="en-US" sz="1300"/>
          </a:p>
        </p:txBody>
      </p:sp>
      <p:sp>
        <p:nvSpPr>
          <p:cNvPr id="42" name="Shape 42"/>
          <p:cNvSpPr/>
          <p:nvPr/>
        </p:nvSpPr>
        <p:spPr>
          <a:xfrm>
            <a:off x="7891272" y="298094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0" i="0">
                <a:solidFill>
                  <a:srgbClr val="64748B"/>
                </a:solidFill>
                <a:latin typeface="Aptos"/>
              </a:rPr>
              <a:t>F1 score</a:t>
            </a:r>
            <a:endParaRPr lang="en-US" sz="900"/>
          </a:p>
        </p:txBody>
      </p:sp>
      <p:sp>
        <p:nvSpPr>
          <p:cNvPr id="43" name="Shape 43"/>
          <p:cNvSpPr/>
          <p:nvPr/>
        </p:nvSpPr>
        <p:spPr>
          <a:xfrm>
            <a:off x="6748272" y="331012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1E293B"/>
                </a:solidFill>
                <a:latin typeface="Aptos"/>
              </a:rPr>
              <a:t>Train 1,092   ·   Test 274</a:t>
            </a:r>
            <a:endParaRPr lang="en-US" sz="900"/>
          </a:p>
        </p:txBody>
      </p:sp>
      <p:sp>
        <p:nvSpPr>
          <p:cNvPr id="44" name="Shape 44"/>
          <p:cNvSpPr/>
          <p:nvPr/>
        </p:nvSpPr>
        <p:spPr>
          <a:xfrm>
            <a:off x="6473952" y="3822192"/>
            <a:ext cx="5029200" cy="161848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45" name="Shape 45"/>
          <p:cNvSpPr/>
          <p:nvPr/>
        </p:nvSpPr>
        <p:spPr>
          <a:xfrm>
            <a:off x="6693408" y="3986784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900" b="1" i="0">
                <a:solidFill>
                  <a:srgbClr val="F59E0B"/>
                </a:solidFill>
                <a:latin typeface="Aptos"/>
              </a:rPr>
              <a:t>LIMITASAUN IMPORTANTE</a:t>
            </a:r>
            <a:endParaRPr lang="en-US" sz="900"/>
          </a:p>
        </p:txBody>
      </p:sp>
      <p:sp>
        <p:nvSpPr>
          <p:cNvPr id="46" name="Shape 46"/>
          <p:cNvSpPr/>
          <p:nvPr/>
        </p:nvSpPr>
        <p:spPr>
          <a:xfrm>
            <a:off x="6693408" y="4315968"/>
            <a:ext cx="4498848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900" b="0" i="0">
                <a:solidFill>
                  <a:srgbClr val="1E293B"/>
                </a:solidFill>
                <a:latin typeface="Aptos"/>
              </a:rPr>
              <a:t>Negative: 1 total; 0 iha test set. Evaluation la valid ba klase hotu.</a:t>
            </a:r>
            <a:endParaRPr lang="en-US" sz="900"/>
          </a:p>
        </p:txBody>
      </p:sp>
      <p:sp>
        <p:nvSpPr>
          <p:cNvPr id="47" name="Shape 47"/>
          <p:cNvSpPr/>
          <p:nvPr/>
        </p:nvSpPr>
        <p:spPr>
          <a:xfrm>
            <a:off x="6693408" y="4864608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850" b="0" i="0">
                <a:solidFill>
                  <a:srgbClr val="64748B"/>
                </a:solidFill>
                <a:latin typeface="Aptos"/>
              </a:rPr>
              <a:t>Label sira mai husi wordlist; la iha label human-verified.</a:t>
            </a:r>
            <a:endParaRPr lang="en-US" sz="850"/>
          </a:p>
        </p:txBody>
      </p:sp>
    </p:spTree>
    <p:clrMapOvr>
      <a:masterClrMapping/>
    </p:clrMapOvr>
  </p:cSld>
</p:sld>
</file>

<file path=ppt/slides/slide12.xml><?xml version="1.0" encoding="utf-8"?>
<p:sld xmlns:a="http://schemas.openxmlformats.org/drawingml/2006/main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85216" y="237744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000" b="1" i="0">
                <a:solidFill>
                  <a:srgbClr val="2563EB"/>
                </a:solidFill>
                <a:latin typeface="Aptos"/>
              </a:rPr>
              <a:t>11 · KONKLUZAUN</a:t>
            </a:r>
            <a:endParaRPr lang="en-US" sz="1000"/>
          </a:p>
        </p:txBody>
      </p:sp>
      <p:sp>
        <p:nvSpPr>
          <p:cNvPr id="3" name="Shape 3"/>
          <p:cNvSpPr/>
          <p:nvPr/>
        </p:nvSpPr>
        <p:spPr>
          <a:xfrm>
            <a:off x="585216" y="576072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600" b="1" i="0">
                <a:solidFill>
                  <a:srgbClr val="1E293B"/>
                </a:solidFill>
                <a:latin typeface="Aptos"/>
              </a:rPr>
              <a:t>Konkluzaun no etapa tuirmai</a:t>
            </a:r>
            <a:endParaRPr lang="en-US" sz="2600"/>
          </a:p>
        </p:txBody>
      </p:sp>
      <p:sp>
        <p:nvSpPr>
          <p:cNvPr id="4" name="Shape 4"/>
          <p:cNvSpPr/>
          <p:nvPr/>
        </p:nvSpPr>
        <p:spPr>
          <a:xfrm>
            <a:off x="585216" y="6547104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730" b="1" i="0">
                <a:solidFill>
                  <a:srgbClr val="64748B"/>
                </a:solidFill>
                <a:latin typeface="Aptos"/>
              </a:rPr>
              <a:t>FACEBOOK SENTIMENT SYSTEM  ·  DATA SCIENCE</a:t>
            </a:r>
            <a:endParaRPr lang="en-US" sz="730"/>
          </a:p>
        </p:txBody>
      </p:sp>
      <p:sp>
        <p:nvSpPr>
          <p:cNvPr id="5" name="Shape 5"/>
          <p:cNvSpPr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r" marL="0" indent="0">
              <a:buNone/>
            </a:pPr>
            <a:r>
              <a:rPr lang="en-US" sz="800" b="1" i="0">
                <a:solidFill>
                  <a:srgbClr val="2563EB"/>
                </a:solidFill>
                <a:latin typeface="Aptos"/>
              </a:rPr>
              <a:t>12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658368" y="1645920"/>
            <a:ext cx="5285232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676656" y="1755648"/>
            <a:ext cx="41148" cy="15361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841248" y="1773936"/>
            <a:ext cx="49194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Saida mak sistema halo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841248" y="2212848"/>
            <a:ext cx="4919472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Integra importasaun, preprocessing, labeling, wordlist, Machine Learning, sentiment analysis no dashboard.</a:t>
            </a:r>
            <a:endParaRPr lang="en-US" sz="1100"/>
          </a:p>
        </p:txBody>
      </p:sp>
      <p:sp>
        <p:nvSpPr>
          <p:cNvPr id="10" name="Shape 10"/>
          <p:cNvSpPr/>
          <p:nvPr/>
        </p:nvSpPr>
        <p:spPr>
          <a:xfrm>
            <a:off x="6144768" y="1645920"/>
            <a:ext cx="5367528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6163056" y="1755648"/>
            <a:ext cx="41148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6327648" y="1773936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500" b="1" i="0">
                <a:solidFill>
                  <a:srgbClr val="1E293B"/>
                </a:solidFill>
                <a:latin typeface="Aptos"/>
              </a:rPr>
              <a:t>Valor ba utilizadór</a:t>
            </a:r>
            <a:endParaRPr lang="en-US" sz="1500"/>
          </a:p>
        </p:txBody>
      </p:sp>
      <p:sp>
        <p:nvSpPr>
          <p:cNvPr id="13" name="Shape 13"/>
          <p:cNvSpPr/>
          <p:nvPr/>
        </p:nvSpPr>
        <p:spPr>
          <a:xfrm>
            <a:off x="6327648" y="2212848"/>
            <a:ext cx="5001768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" rIns="9144" tIns="4572" bIns="4572"/>
          <a:lstStyle/>
          <a:p>
            <a:pPr algn="l" marL="0" indent="0">
              <a:buNone/>
            </a:pPr>
            <a:r>
              <a:rPr lang="en-US" sz="1100" b="0" i="0">
                <a:solidFill>
                  <a:srgbClr val="64748B"/>
                </a:solidFill>
                <a:latin typeface="Aptos"/>
              </a:rPr>
              <a:t>Ajuda transforma komentáriu Facebook barak sai informasaun ne’ebé fasil atu analiza no komprende.</a:t>
            </a:r>
            <a:endParaRPr lang="en-US" sz="1100"/>
          </a:p>
        </p:txBody>
      </p:sp>
      <p:sp>
        <p:nvSpPr>
          <p:cNvPr id="14" name="Shape 14"/>
          <p:cNvSpPr/>
          <p:nvPr/>
        </p:nvSpPr>
        <p:spPr>
          <a:xfrm>
            <a:off x="658368" y="3858768"/>
            <a:ext cx="10881360" cy="8412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 lIns="109728" rIns="109728" tIns="54864" bIns="54864"/>
          <a:lstStyle/>
          <a:p>
            <a:pPr algn="l" marL="0" indent="0">
              <a:buNone/>
            </a:pP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914400" y="405079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100" b="1" i="0">
                <a:solidFill>
                  <a:srgbClr val="1E293B"/>
                </a:solidFill>
                <a:latin typeface="Aptos"/>
              </a:rPr>
              <a:t>RAW DATA</a:t>
            </a:r>
            <a:endParaRPr lang="en-US" sz="1100"/>
          </a:p>
        </p:txBody>
      </p:sp>
      <p:sp>
        <p:nvSpPr>
          <p:cNvPr id="16" name="Shape 16"/>
          <p:cNvSpPr/>
          <p:nvPr/>
        </p:nvSpPr>
        <p:spPr>
          <a:xfrm>
            <a:off x="2560320" y="4050792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500" b="1" i="0">
                <a:solidFill>
                  <a:srgbClr val="2563EB"/>
                </a:solidFill>
                <a:latin typeface="Aptos"/>
              </a:rPr>
              <a:t>→</a:t>
            </a:r>
            <a:endParaRPr lang="en-US" sz="1500"/>
          </a:p>
        </p:txBody>
      </p:sp>
      <p:sp>
        <p:nvSpPr>
          <p:cNvPr id="17" name="Shape 17"/>
          <p:cNvSpPr/>
          <p:nvPr/>
        </p:nvSpPr>
        <p:spPr>
          <a:xfrm>
            <a:off x="2971800" y="405079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100" b="1" i="0">
                <a:solidFill>
                  <a:srgbClr val="1E293B"/>
                </a:solidFill>
                <a:latin typeface="Aptos"/>
              </a:rPr>
              <a:t>CLEAN DATA</a:t>
            </a:r>
            <a:endParaRPr lang="en-US" sz="1100"/>
          </a:p>
        </p:txBody>
      </p:sp>
      <p:sp>
        <p:nvSpPr>
          <p:cNvPr id="18" name="Shape 18"/>
          <p:cNvSpPr/>
          <p:nvPr/>
        </p:nvSpPr>
        <p:spPr>
          <a:xfrm>
            <a:off x="4754880" y="4050792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500" b="1" i="0">
                <a:solidFill>
                  <a:srgbClr val="2563EB"/>
                </a:solidFill>
                <a:latin typeface="Aptos"/>
              </a:rPr>
              <a:t>→</a:t>
            </a:r>
            <a:endParaRPr lang="en-US" sz="1500"/>
          </a:p>
        </p:txBody>
      </p:sp>
      <p:sp>
        <p:nvSpPr>
          <p:cNvPr id="19" name="Shape 19"/>
          <p:cNvSpPr/>
          <p:nvPr/>
        </p:nvSpPr>
        <p:spPr>
          <a:xfrm>
            <a:off x="5166360" y="40507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100" b="1" i="0">
                <a:solidFill>
                  <a:srgbClr val="1E293B"/>
                </a:solidFill>
                <a:latin typeface="Aptos"/>
              </a:rPr>
              <a:t>LABEL</a:t>
            </a:r>
            <a:endParaRPr lang="en-US" sz="1100"/>
          </a:p>
        </p:txBody>
      </p:sp>
      <p:sp>
        <p:nvSpPr>
          <p:cNvPr id="20" name="Shape 20"/>
          <p:cNvSpPr/>
          <p:nvPr/>
        </p:nvSpPr>
        <p:spPr>
          <a:xfrm>
            <a:off x="6492240" y="4050792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500" b="1" i="0">
                <a:solidFill>
                  <a:srgbClr val="2563EB"/>
                </a:solidFill>
                <a:latin typeface="Aptos"/>
              </a:rPr>
              <a:t>→</a:t>
            </a:r>
            <a:endParaRPr lang="en-US" sz="1500"/>
          </a:p>
        </p:txBody>
      </p:sp>
      <p:sp>
        <p:nvSpPr>
          <p:cNvPr id="21" name="Shape 21"/>
          <p:cNvSpPr/>
          <p:nvPr/>
        </p:nvSpPr>
        <p:spPr>
          <a:xfrm>
            <a:off x="6903720" y="405079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100" b="1" i="0">
                <a:solidFill>
                  <a:srgbClr val="1E293B"/>
                </a:solidFill>
                <a:latin typeface="Aptos"/>
              </a:rPr>
              <a:t>MODEL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8503920" y="4050792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500" b="1" i="0">
                <a:solidFill>
                  <a:srgbClr val="2563EB"/>
                </a:solidFill>
                <a:latin typeface="Aptos"/>
              </a:rPr>
              <a:t>→</a:t>
            </a:r>
            <a:endParaRPr lang="en-US" sz="1500"/>
          </a:p>
        </p:txBody>
      </p:sp>
      <p:sp>
        <p:nvSpPr>
          <p:cNvPr id="23" name="Shape 23"/>
          <p:cNvSpPr/>
          <p:nvPr/>
        </p:nvSpPr>
        <p:spPr>
          <a:xfrm>
            <a:off x="8915400" y="405079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ctr" marL="0" indent="0">
              <a:buNone/>
            </a:pPr>
            <a:r>
              <a:rPr lang="en-US" sz="1100" b="1" i="0">
                <a:solidFill>
                  <a:srgbClr val="16A34A"/>
                </a:solidFill>
                <a:latin typeface="Aptos"/>
              </a:rPr>
              <a:t>INSIGHT</a:t>
            </a:r>
            <a:endParaRPr lang="en-US" sz="1100"/>
          </a:p>
        </p:txBody>
      </p:sp>
      <p:sp>
        <p:nvSpPr>
          <p:cNvPr id="24" name="Shape 24"/>
          <p:cNvSpPr/>
          <p:nvPr/>
        </p:nvSpPr>
        <p:spPr>
          <a:xfrm>
            <a:off x="777240" y="5266944"/>
            <a:ext cx="39319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2300" b="1" i="0">
                <a:solidFill>
                  <a:srgbClr val="1E293B"/>
                </a:solidFill>
                <a:latin typeface="Aptos"/>
              </a:rPr>
              <a:t>OBRIGADU!</a:t>
            </a:r>
            <a:endParaRPr lang="en-US" sz="2300"/>
          </a:p>
        </p:txBody>
      </p:sp>
      <p:sp>
        <p:nvSpPr>
          <p:cNvPr id="25" name="Shape 25"/>
          <p:cNvSpPr/>
          <p:nvPr/>
        </p:nvSpPr>
        <p:spPr>
          <a:xfrm>
            <a:off x="4069080" y="5385816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9144" bIns="9144"/>
          <a:lstStyle/>
          <a:p>
            <a:pPr algn="l" marL="0" indent="0">
              <a:buNone/>
            </a:pPr>
            <a:r>
              <a:rPr lang="en-US" sz="1200" b="1" i="0">
                <a:solidFill>
                  <a:srgbClr val="2563EB"/>
                </a:solidFill>
                <a:latin typeface="Aptos"/>
              </a:rPr>
              <a:t>Pergunta no komentáriu?</a:t>
            </a:r>
            <a:endParaRPr lang="en-US" sz="1200"/>
          </a:p>
        </p:txBody>
      </p:sp>
    </p:spTree>
    <p:clrMapOvr>
      <a:masterClrMapping/>
    </p:clrMapOvr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26</ns0:TotalTime>
  <ns0:Words>817</ns0:Words>
  <ns0:Application>Microsoft Office PowerPoint</ns0:Application>
  <ns0:PresentationFormat>Widescreen</ns0:PresentationFormat>
  <ns0:Paragraphs>213</ns0:Paragraphs>
  <ns0:Slides>12</ns0:Slides>
  <ns0:Notes>0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3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12</ns1:i4>
      </ns1:variant>
    </ns1:vector>
  </ns0:HeadingPairs>
  <ns0:TitlesOfParts>
    <ns1:vector size="16" baseType="lpstr"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  <ns1:lpstr>Facebook Sentiment System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Facebook Sentiment System Presentation</dc:title>
  <dc:creator>Data Science</dc:creator>
  <ns0:lastModifiedBy>Epifania</ns0:lastModifiedBy>
  <ns0:revision>7</ns0:revision>
  <ns2:modified xsi:type="dcterms:W3CDTF">2026-10-25T16:23:32Z</ns2:modified>
  <ns2:subject>Sistema Analítiku ba Komentáriu Facebook</ns2:subject>
  <dc:description>Facebook comment sentiment analysis system</dc:description>
</ns0:coreProperties>
</file>